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8288000" cy="10287000"/>
  <p:notesSz cx="6858000" cy="9144000"/>
  <p:embeddedFontLst>
    <p:embeddedFont>
      <p:font typeface="DG Ghayaty Bold" panose="020B0604020202020204" charset="-78"/>
      <p:regular r:id="rId15"/>
    </p:embeddedFont>
    <p:embeddedFont>
      <p:font typeface="DG Sahabh Bold" panose="020B0604020202020204" charset="-78"/>
      <p:regular r:id="rId16"/>
    </p:embeddedFont>
    <p:embeddedFont>
      <p:font typeface="Lilita One" panose="020B0604020202020204" charset="0"/>
      <p:regular r:id="rId17"/>
    </p:embeddedFont>
    <p:embeddedFont>
      <p:font typeface="Sensei"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E6A3451-245C-43A5-B09B-28EB26958BBF}" v="3" dt="2026-05-08T23:53:03.50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557"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font" Target="fonts/font1.fntdata"/><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ura maher" userId="041b074e2a940bc5" providerId="LiveId" clId="{BA8BE6EB-4ED5-4DC3-9445-2C8D572F456D}"/>
    <pc:docChg chg="undo custSel modSld">
      <pc:chgData name="noura maher" userId="041b074e2a940bc5" providerId="LiveId" clId="{BA8BE6EB-4ED5-4DC3-9445-2C8D572F456D}" dt="2026-05-08T23:54:16.282" v="64"/>
      <pc:docMkLst>
        <pc:docMk/>
      </pc:docMkLst>
      <pc:sldChg chg="addSp delSp modSp mod">
        <pc:chgData name="noura maher" userId="041b074e2a940bc5" providerId="LiveId" clId="{BA8BE6EB-4ED5-4DC3-9445-2C8D572F456D}" dt="2026-05-08T23:54:16.282" v="64"/>
        <pc:sldMkLst>
          <pc:docMk/>
          <pc:sldMk cId="0" sldId="268"/>
        </pc:sldMkLst>
        <pc:spChg chg="mod">
          <ac:chgData name="noura maher" userId="041b074e2a940bc5" providerId="LiveId" clId="{BA8BE6EB-4ED5-4DC3-9445-2C8D572F456D}" dt="2026-05-08T23:53:52.238" v="58" actId="1076"/>
          <ac:spMkLst>
            <pc:docMk/>
            <pc:sldMk cId="0" sldId="268"/>
            <ac:spMk id="2" creationId="{00000000-0000-0000-0000-000000000000}"/>
          </ac:spMkLst>
        </pc:spChg>
        <pc:spChg chg="mod">
          <ac:chgData name="noura maher" userId="041b074e2a940bc5" providerId="LiveId" clId="{BA8BE6EB-4ED5-4DC3-9445-2C8D572F456D}" dt="2026-05-08T23:54:04.786" v="60" actId="1076"/>
          <ac:spMkLst>
            <pc:docMk/>
            <pc:sldMk cId="0" sldId="268"/>
            <ac:spMk id="7" creationId="{00000000-0000-0000-0000-000000000000}"/>
          </ac:spMkLst>
        </pc:spChg>
        <pc:spChg chg="mod">
          <ac:chgData name="noura maher" userId="041b074e2a940bc5" providerId="LiveId" clId="{BA8BE6EB-4ED5-4DC3-9445-2C8D572F456D}" dt="2026-05-08T23:54:09.388" v="61" actId="1076"/>
          <ac:spMkLst>
            <pc:docMk/>
            <pc:sldMk cId="0" sldId="268"/>
            <ac:spMk id="8" creationId="{00000000-0000-0000-0000-000000000000}"/>
          </ac:spMkLst>
        </pc:spChg>
        <pc:spChg chg="add del mod">
          <ac:chgData name="noura maher" userId="041b074e2a940bc5" providerId="LiveId" clId="{BA8BE6EB-4ED5-4DC3-9445-2C8D572F456D}" dt="2026-05-08T23:50:31.271" v="3" actId="22"/>
          <ac:spMkLst>
            <pc:docMk/>
            <pc:sldMk cId="0" sldId="268"/>
            <ac:spMk id="11" creationId="{252C6167-6C3C-DB95-4238-E89308146428}"/>
          </ac:spMkLst>
        </pc:spChg>
        <pc:spChg chg="add del">
          <ac:chgData name="noura maher" userId="041b074e2a940bc5" providerId="LiveId" clId="{BA8BE6EB-4ED5-4DC3-9445-2C8D572F456D}" dt="2026-05-08T23:51:11.888" v="9" actId="22"/>
          <ac:spMkLst>
            <pc:docMk/>
            <pc:sldMk cId="0" sldId="268"/>
            <ac:spMk id="13" creationId="{149C8063-5774-8B9B-BE7A-D27C939469B6}"/>
          </ac:spMkLst>
        </pc:spChg>
        <pc:spChg chg="add del mod">
          <ac:chgData name="noura maher" userId="041b074e2a940bc5" providerId="LiveId" clId="{BA8BE6EB-4ED5-4DC3-9445-2C8D572F456D}" dt="2026-05-08T23:54:16.282" v="64"/>
          <ac:spMkLst>
            <pc:docMk/>
            <pc:sldMk cId="0" sldId="268"/>
            <ac:spMk id="15" creationId="{FD6DE089-0BB9-FBF1-5BCF-A0B3BFD101F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7.sv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10.svg"/><Relationship Id="rId5" Type="http://schemas.openxmlformats.org/officeDocument/2006/relationships/image" Target="../media/image4.svg"/><Relationship Id="rId4" Type="http://schemas.openxmlformats.org/officeDocument/2006/relationships/image" Target="../media/image9.svg"/></Relationships>
</file>

<file path=ppt/slides/_rels/slide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12.svg"/><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2.svg"/><Relationship Id="rId4" Type="http://schemas.openxmlformats.org/officeDocument/2006/relationships/image" Target="../media/image14.svg"/></Relationships>
</file>

<file path=ppt/slides/_rels/slide8.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6.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20.svg"/><Relationship Id="rId2" Type="http://schemas.openxmlformats.org/officeDocument/2006/relationships/image" Target="../media/image4.sv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9.svg"/><Relationship Id="rId4" Type="http://schemas.openxmlformats.org/officeDocument/2006/relationships/image" Target="../media/image18.sv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1.svg"/><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23.svg"/><Relationship Id="rId4" Type="http://schemas.openxmlformats.org/officeDocument/2006/relationships/image" Target="../media/image22.svg"/></Relationships>
</file>

<file path=ppt/slides/_rels/slide11.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25.svg"/></Relationships>
</file>

<file path=ppt/slides/_rels/slide12.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26.svg"/><Relationship Id="rId7" Type="http://schemas.openxmlformats.org/officeDocument/2006/relationships/oleObject" Target="../embeddings/oleObject2.bin"/><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oleObject" Target="../embeddings/oleObject1.bin"/><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9.svg"/><Relationship Id="rId1" Type="http://schemas.openxmlformats.org/officeDocument/2006/relationships/slideLayout" Target="../slideLayouts/slideLayout7.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2096580" y="9130570"/>
            <a:ext cx="18579352" cy="3690773"/>
          </a:xfrm>
          <a:custGeom>
            <a:avLst/>
            <a:gdLst/>
            <a:ahLst/>
            <a:cxnLst/>
            <a:rect l="l" t="t" r="r" b="b"/>
            <a:pathLst>
              <a:path w="18579352" h="3690773">
                <a:moveTo>
                  <a:pt x="0" y="0"/>
                </a:moveTo>
                <a:lnTo>
                  <a:pt x="18579352" y="0"/>
                </a:lnTo>
                <a:lnTo>
                  <a:pt x="18579352" y="3690773"/>
                </a:lnTo>
                <a:lnTo>
                  <a:pt x="0" y="36907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492757" y="3636357"/>
            <a:ext cx="8651243" cy="6650643"/>
          </a:xfrm>
          <a:custGeom>
            <a:avLst/>
            <a:gdLst/>
            <a:ahLst/>
            <a:cxnLst/>
            <a:rect l="l" t="t" r="r" b="b"/>
            <a:pathLst>
              <a:path w="8651243" h="6650643">
                <a:moveTo>
                  <a:pt x="0" y="0"/>
                </a:moveTo>
                <a:lnTo>
                  <a:pt x="8651243" y="0"/>
                </a:lnTo>
                <a:lnTo>
                  <a:pt x="8651243" y="6650643"/>
                </a:lnTo>
                <a:lnTo>
                  <a:pt x="0" y="6650643"/>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Freeform 4"/>
          <p:cNvSpPr/>
          <p:nvPr/>
        </p:nvSpPr>
        <p:spPr>
          <a:xfrm flipH="1">
            <a:off x="14869017" y="6048574"/>
            <a:ext cx="3994090" cy="4519479"/>
          </a:xfrm>
          <a:custGeom>
            <a:avLst/>
            <a:gdLst/>
            <a:ahLst/>
            <a:cxnLst/>
            <a:rect l="l" t="t" r="r" b="b"/>
            <a:pathLst>
              <a:path w="3994090" h="4519479">
                <a:moveTo>
                  <a:pt x="3994090" y="0"/>
                </a:moveTo>
                <a:lnTo>
                  <a:pt x="0" y="0"/>
                </a:lnTo>
                <a:lnTo>
                  <a:pt x="0" y="4519479"/>
                </a:lnTo>
                <a:lnTo>
                  <a:pt x="3994090" y="4519479"/>
                </a:lnTo>
                <a:lnTo>
                  <a:pt x="399409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5" name="Freeform 5"/>
          <p:cNvSpPr/>
          <p:nvPr/>
        </p:nvSpPr>
        <p:spPr>
          <a:xfrm>
            <a:off x="14630400" y="-245213"/>
            <a:ext cx="7315200" cy="1975104"/>
          </a:xfrm>
          <a:custGeom>
            <a:avLst/>
            <a:gdLst/>
            <a:ahLst/>
            <a:cxnLst/>
            <a:rect l="l" t="t" r="r" b="b"/>
            <a:pathLst>
              <a:path w="7315200" h="1975104">
                <a:moveTo>
                  <a:pt x="0" y="0"/>
                </a:moveTo>
                <a:lnTo>
                  <a:pt x="7315200" y="0"/>
                </a:lnTo>
                <a:lnTo>
                  <a:pt x="7315200" y="1975104"/>
                </a:lnTo>
                <a:lnTo>
                  <a:pt x="0" y="19751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6" name="TextBox 6"/>
          <p:cNvSpPr txBox="1"/>
          <p:nvPr/>
        </p:nvSpPr>
        <p:spPr>
          <a:xfrm>
            <a:off x="7193096" y="2044625"/>
            <a:ext cx="11094904" cy="3487997"/>
          </a:xfrm>
          <a:prstGeom prst="rect">
            <a:avLst/>
          </a:prstGeom>
        </p:spPr>
        <p:txBody>
          <a:bodyPr lIns="0" tIns="0" rIns="0" bIns="0" rtlCol="0" anchor="t">
            <a:spAutoFit/>
          </a:bodyPr>
          <a:lstStyle/>
          <a:p>
            <a:pPr algn="ctr">
              <a:lnSpc>
                <a:spcPts val="9007"/>
              </a:lnSpc>
            </a:pPr>
            <a:r>
              <a:rPr lang="en-US" sz="8830">
                <a:solidFill>
                  <a:srgbClr val="000000"/>
                </a:solidFill>
                <a:latin typeface="Lilita One"/>
                <a:ea typeface="Lilita One"/>
                <a:cs typeface="Lilita One"/>
                <a:sym typeface="Lilita One"/>
              </a:rPr>
              <a:t>DALLA3 KERSHAK UNIVERSITY FOOD APPLICATION</a:t>
            </a:r>
          </a:p>
        </p:txBody>
      </p:sp>
      <p:sp>
        <p:nvSpPr>
          <p:cNvPr id="7" name="TextBox 7"/>
          <p:cNvSpPr txBox="1"/>
          <p:nvPr/>
        </p:nvSpPr>
        <p:spPr>
          <a:xfrm>
            <a:off x="9670859" y="5418322"/>
            <a:ext cx="5455347" cy="990519"/>
          </a:xfrm>
          <a:prstGeom prst="rect">
            <a:avLst/>
          </a:prstGeom>
        </p:spPr>
        <p:txBody>
          <a:bodyPr lIns="0" tIns="0" rIns="0" bIns="0" rtlCol="0" anchor="t">
            <a:spAutoFit/>
          </a:bodyPr>
          <a:lstStyle/>
          <a:p>
            <a:pPr algn="ctr">
              <a:lnSpc>
                <a:spcPts val="8113"/>
              </a:lnSpc>
            </a:pPr>
            <a:r>
              <a:rPr lang="en-US" sz="5795">
                <a:solidFill>
                  <a:srgbClr val="000000"/>
                </a:solidFill>
                <a:latin typeface="Sensei"/>
                <a:ea typeface="Sensei"/>
                <a:cs typeface="Sensei"/>
                <a:sym typeface="Sensei"/>
              </a:rPr>
              <a:t>Presentation</a:t>
            </a:r>
          </a:p>
        </p:txBody>
      </p:sp>
      <p:sp>
        <p:nvSpPr>
          <p:cNvPr id="8" name="Freeform 8"/>
          <p:cNvSpPr/>
          <p:nvPr/>
        </p:nvSpPr>
        <p:spPr>
          <a:xfrm>
            <a:off x="-3321716" y="516986"/>
            <a:ext cx="7315200" cy="1975104"/>
          </a:xfrm>
          <a:custGeom>
            <a:avLst/>
            <a:gdLst/>
            <a:ahLst/>
            <a:cxnLst/>
            <a:rect l="l" t="t" r="r" b="b"/>
            <a:pathLst>
              <a:path w="7315200" h="1975104">
                <a:moveTo>
                  <a:pt x="0" y="0"/>
                </a:moveTo>
                <a:lnTo>
                  <a:pt x="7315200" y="0"/>
                </a:lnTo>
                <a:lnTo>
                  <a:pt x="7315200" y="1975104"/>
                </a:lnTo>
                <a:lnTo>
                  <a:pt x="0" y="197510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9" name="TextBox 9"/>
          <p:cNvSpPr txBox="1"/>
          <p:nvPr/>
        </p:nvSpPr>
        <p:spPr>
          <a:xfrm>
            <a:off x="8733306" y="6216561"/>
            <a:ext cx="7330453" cy="995680"/>
          </a:xfrm>
          <a:prstGeom prst="rect">
            <a:avLst/>
          </a:prstGeom>
        </p:spPr>
        <p:txBody>
          <a:bodyPr lIns="0" tIns="0" rIns="0" bIns="0" rtlCol="0" anchor="t">
            <a:spAutoFit/>
          </a:bodyPr>
          <a:lstStyle/>
          <a:p>
            <a:pPr algn="ctr">
              <a:lnSpc>
                <a:spcPts val="8119"/>
              </a:lnSpc>
            </a:pPr>
            <a:r>
              <a:rPr lang="en-US" sz="5799">
                <a:solidFill>
                  <a:srgbClr val="000000"/>
                </a:solidFill>
                <a:latin typeface="Sensei"/>
                <a:ea typeface="Sensei"/>
                <a:cs typeface="Sensei"/>
                <a:sym typeface="Sensei"/>
              </a:rPr>
              <a:t>By Team Masterpiece </a:t>
            </a:r>
          </a:p>
        </p:txBody>
      </p:sp>
      <p:sp>
        <p:nvSpPr>
          <p:cNvPr id="10" name="TextBox 10"/>
          <p:cNvSpPr txBox="1"/>
          <p:nvPr/>
        </p:nvSpPr>
        <p:spPr>
          <a:xfrm>
            <a:off x="9344025" y="8251164"/>
            <a:ext cx="2841665" cy="941069"/>
          </a:xfrm>
          <a:prstGeom prst="rect">
            <a:avLst/>
          </a:prstGeom>
        </p:spPr>
        <p:txBody>
          <a:bodyPr lIns="0" tIns="0" rIns="0" bIns="0" rtlCol="0" anchor="t">
            <a:spAutoFit/>
          </a:bodyPr>
          <a:lstStyle/>
          <a:p>
            <a:pPr algn="l">
              <a:lnSpc>
                <a:spcPts val="3780"/>
              </a:lnSpc>
              <a:spcBef>
                <a:spcPct val="0"/>
              </a:spcBef>
            </a:pPr>
            <a:r>
              <a:rPr lang="en-US" sz="2700">
                <a:solidFill>
                  <a:srgbClr val="000000"/>
                </a:solidFill>
                <a:latin typeface="Sensei"/>
                <a:ea typeface="Sensei"/>
                <a:cs typeface="Sensei"/>
                <a:sym typeface="Sensei"/>
              </a:rPr>
              <a:t>Dr: Ahmed Mahran </a:t>
            </a:r>
          </a:p>
          <a:p>
            <a:pPr algn="l">
              <a:lnSpc>
                <a:spcPts val="3780"/>
              </a:lnSpc>
              <a:spcBef>
                <a:spcPct val="0"/>
              </a:spcBef>
            </a:pPr>
            <a:r>
              <a:rPr lang="en-US" sz="2700">
                <a:solidFill>
                  <a:srgbClr val="000000"/>
                </a:solidFill>
                <a:latin typeface="Sensei"/>
                <a:ea typeface="Sensei"/>
                <a:cs typeface="Sensei"/>
                <a:sym typeface="Sensei"/>
              </a:rPr>
              <a:t>Code: AHU20XX</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1072206" y="9258300"/>
            <a:ext cx="18579352" cy="3690773"/>
          </a:xfrm>
          <a:custGeom>
            <a:avLst/>
            <a:gdLst/>
            <a:ahLst/>
            <a:cxnLst/>
            <a:rect l="l" t="t" r="r" b="b"/>
            <a:pathLst>
              <a:path w="18579352" h="3690773">
                <a:moveTo>
                  <a:pt x="0" y="0"/>
                </a:moveTo>
                <a:lnTo>
                  <a:pt x="18579352" y="0"/>
                </a:lnTo>
                <a:lnTo>
                  <a:pt x="18579352" y="3690773"/>
                </a:lnTo>
                <a:lnTo>
                  <a:pt x="0" y="369077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flipH="1">
            <a:off x="15391587" y="6639884"/>
            <a:ext cx="3471520" cy="3928170"/>
          </a:xfrm>
          <a:custGeom>
            <a:avLst/>
            <a:gdLst/>
            <a:ahLst/>
            <a:cxnLst/>
            <a:rect l="l" t="t" r="r" b="b"/>
            <a:pathLst>
              <a:path w="3471520" h="3928170">
                <a:moveTo>
                  <a:pt x="3471520" y="0"/>
                </a:moveTo>
                <a:lnTo>
                  <a:pt x="0" y="0"/>
                </a:lnTo>
                <a:lnTo>
                  <a:pt x="0" y="3928169"/>
                </a:lnTo>
                <a:lnTo>
                  <a:pt x="3471520" y="3928169"/>
                </a:lnTo>
                <a:lnTo>
                  <a:pt x="347152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TextBox 4"/>
          <p:cNvSpPr txBox="1"/>
          <p:nvPr/>
        </p:nvSpPr>
        <p:spPr>
          <a:xfrm>
            <a:off x="9298633" y="1820872"/>
            <a:ext cx="8208513" cy="1445445"/>
          </a:xfrm>
          <a:prstGeom prst="rect">
            <a:avLst/>
          </a:prstGeom>
        </p:spPr>
        <p:txBody>
          <a:bodyPr lIns="0" tIns="0" rIns="0" bIns="0" rtlCol="0" anchor="t">
            <a:spAutoFit/>
          </a:bodyPr>
          <a:lstStyle/>
          <a:p>
            <a:pPr algn="ctr">
              <a:lnSpc>
                <a:spcPts val="10944"/>
              </a:lnSpc>
            </a:pPr>
            <a:r>
              <a:rPr lang="en-US" sz="10730">
                <a:solidFill>
                  <a:srgbClr val="000000"/>
                </a:solidFill>
                <a:latin typeface="Lilita One"/>
                <a:ea typeface="Lilita One"/>
                <a:cs typeface="Lilita One"/>
                <a:sym typeface="Lilita One"/>
              </a:rPr>
              <a:t>PROBLEM</a:t>
            </a:r>
          </a:p>
        </p:txBody>
      </p:sp>
      <p:sp>
        <p:nvSpPr>
          <p:cNvPr id="5" name="TextBox 5"/>
          <p:cNvSpPr txBox="1"/>
          <p:nvPr/>
        </p:nvSpPr>
        <p:spPr>
          <a:xfrm>
            <a:off x="9144000" y="3198495"/>
            <a:ext cx="10678412" cy="3813810"/>
          </a:xfrm>
          <a:prstGeom prst="rect">
            <a:avLst/>
          </a:prstGeom>
        </p:spPr>
        <p:txBody>
          <a:bodyPr lIns="0" tIns="0" rIns="0" bIns="0" rtlCol="0" anchor="t">
            <a:spAutoFit/>
          </a:bodyPr>
          <a:lstStyle/>
          <a:p>
            <a:pPr marL="777238" lvl="1" indent="-388619" algn="just">
              <a:lnSpc>
                <a:spcPts val="5039"/>
              </a:lnSpc>
              <a:buFont typeface="Arial"/>
              <a:buChar char="•"/>
            </a:pPr>
            <a:r>
              <a:rPr lang="en-US" sz="3599">
                <a:solidFill>
                  <a:srgbClr val="000000"/>
                </a:solidFill>
                <a:latin typeface="Sensei"/>
                <a:ea typeface="Sensei"/>
                <a:cs typeface="Sensei"/>
                <a:sym typeface="Sensei"/>
              </a:rPr>
              <a:t>Long queues waste 20–30 mins daily</a:t>
            </a:r>
          </a:p>
          <a:p>
            <a:pPr marL="777238" lvl="1" indent="-388619" algn="just">
              <a:lnSpc>
                <a:spcPts val="5039"/>
              </a:lnSpc>
              <a:buFont typeface="Arial"/>
              <a:buChar char="•"/>
            </a:pPr>
            <a:r>
              <a:rPr lang="en-US" sz="3599">
                <a:solidFill>
                  <a:srgbClr val="000000"/>
                </a:solidFill>
                <a:latin typeface="Sensei"/>
                <a:ea typeface="Sensei"/>
                <a:cs typeface="Sensei"/>
                <a:sym typeface="Sensei"/>
              </a:rPr>
              <a:t>Peak hours cap vendor capacity</a:t>
            </a:r>
          </a:p>
          <a:p>
            <a:pPr marL="777238" lvl="1" indent="-388619" algn="just">
              <a:lnSpc>
                <a:spcPts val="5039"/>
              </a:lnSpc>
              <a:buFont typeface="Arial"/>
              <a:buChar char="•"/>
            </a:pPr>
            <a:r>
              <a:rPr lang="en-US" sz="3599">
                <a:solidFill>
                  <a:srgbClr val="000000"/>
                </a:solidFill>
                <a:latin typeface="Sensei"/>
                <a:ea typeface="Sensei"/>
                <a:cs typeface="Sensei"/>
                <a:sym typeface="Sensei"/>
              </a:rPr>
              <a:t>Students miss breaks &amp; lectures</a:t>
            </a:r>
          </a:p>
          <a:p>
            <a:pPr marL="777238" lvl="1" indent="-388619" algn="just">
              <a:lnSpc>
                <a:spcPts val="5039"/>
              </a:lnSpc>
              <a:buFont typeface="Arial"/>
              <a:buChar char="•"/>
            </a:pPr>
            <a:r>
              <a:rPr lang="en-US" sz="3599">
                <a:solidFill>
                  <a:srgbClr val="000000"/>
                </a:solidFill>
                <a:latin typeface="Sensei"/>
                <a:ea typeface="Sensei"/>
                <a:cs typeface="Sensei"/>
                <a:sym typeface="Sensei"/>
              </a:rPr>
              <a:t>Cash handling slows operations</a:t>
            </a:r>
          </a:p>
          <a:p>
            <a:pPr marL="777238" lvl="1" indent="-388619" algn="just">
              <a:lnSpc>
                <a:spcPts val="5039"/>
              </a:lnSpc>
              <a:buFont typeface="Arial"/>
              <a:buChar char="•"/>
            </a:pPr>
            <a:r>
              <a:rPr lang="en-US" sz="3599">
                <a:solidFill>
                  <a:srgbClr val="000000"/>
                </a:solidFill>
                <a:latin typeface="Sensei"/>
                <a:ea typeface="Sensei"/>
                <a:cs typeface="Sensei"/>
                <a:sym typeface="Sensei"/>
              </a:rPr>
              <a:t>No smart campus ordering system</a:t>
            </a:r>
          </a:p>
          <a:p>
            <a:pPr algn="just">
              <a:lnSpc>
                <a:spcPts val="5039"/>
              </a:lnSpc>
            </a:pPr>
            <a:endParaRPr lang="en-US" sz="3599">
              <a:solidFill>
                <a:srgbClr val="000000"/>
              </a:solidFill>
              <a:latin typeface="Sensei"/>
              <a:ea typeface="Sensei"/>
              <a:cs typeface="Sensei"/>
              <a:sym typeface="Sensei"/>
            </a:endParaRPr>
          </a:p>
        </p:txBody>
      </p:sp>
      <p:sp>
        <p:nvSpPr>
          <p:cNvPr id="6" name="Freeform 6"/>
          <p:cNvSpPr/>
          <p:nvPr/>
        </p:nvSpPr>
        <p:spPr>
          <a:xfrm>
            <a:off x="-4011055" y="501711"/>
            <a:ext cx="9721961" cy="2624930"/>
          </a:xfrm>
          <a:custGeom>
            <a:avLst/>
            <a:gdLst/>
            <a:ahLst/>
            <a:cxnLst/>
            <a:rect l="l" t="t" r="r" b="b"/>
            <a:pathLst>
              <a:path w="9721961" h="2624930">
                <a:moveTo>
                  <a:pt x="0" y="0"/>
                </a:moveTo>
                <a:lnTo>
                  <a:pt x="9721962" y="0"/>
                </a:lnTo>
                <a:lnTo>
                  <a:pt x="9721962" y="2624929"/>
                </a:lnTo>
                <a:lnTo>
                  <a:pt x="0" y="262492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7" name="Freeform 7"/>
          <p:cNvSpPr/>
          <p:nvPr/>
        </p:nvSpPr>
        <p:spPr>
          <a:xfrm>
            <a:off x="15391587" y="0"/>
            <a:ext cx="6073692" cy="1639897"/>
          </a:xfrm>
          <a:custGeom>
            <a:avLst/>
            <a:gdLst/>
            <a:ahLst/>
            <a:cxnLst/>
            <a:rect l="l" t="t" r="r" b="b"/>
            <a:pathLst>
              <a:path w="6073692" h="1639897">
                <a:moveTo>
                  <a:pt x="0" y="0"/>
                </a:moveTo>
                <a:lnTo>
                  <a:pt x="6073692" y="0"/>
                </a:lnTo>
                <a:lnTo>
                  <a:pt x="6073692" y="1639897"/>
                </a:lnTo>
                <a:lnTo>
                  <a:pt x="0" y="163989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8" name="Freeform 8"/>
          <p:cNvSpPr/>
          <p:nvPr/>
        </p:nvSpPr>
        <p:spPr>
          <a:xfrm>
            <a:off x="-4011055" y="1244190"/>
            <a:ext cx="13088827" cy="8229600"/>
          </a:xfrm>
          <a:custGeom>
            <a:avLst/>
            <a:gdLst/>
            <a:ahLst/>
            <a:cxnLst/>
            <a:rect l="l" t="t" r="r" b="b"/>
            <a:pathLst>
              <a:path w="13088827" h="8229600">
                <a:moveTo>
                  <a:pt x="0" y="0"/>
                </a:moveTo>
                <a:lnTo>
                  <a:pt x="13088827" y="0"/>
                </a:lnTo>
                <a:lnTo>
                  <a:pt x="13088827" y="8229600"/>
                </a:lnTo>
                <a:lnTo>
                  <a:pt x="0" y="8229600"/>
                </a:lnTo>
                <a:lnTo>
                  <a:pt x="0" y="0"/>
                </a:lnTo>
                <a:close/>
              </a:path>
            </a:pathLst>
          </a:custGeom>
          <a:blipFill>
            <a:blip r:embed="rId5"/>
            <a:stretch>
              <a:fillRect/>
            </a:stretch>
          </a:blipFill>
        </p:spPr>
        <p:txBody>
          <a:bodyPr/>
          <a:lstStyle/>
          <a:p>
            <a:endParaRPr lang="ar-EG"/>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flipH="1">
            <a:off x="478995" y="6961488"/>
            <a:ext cx="2287900" cy="3712617"/>
          </a:xfrm>
          <a:custGeom>
            <a:avLst/>
            <a:gdLst/>
            <a:ahLst/>
            <a:cxnLst/>
            <a:rect l="l" t="t" r="r" b="b"/>
            <a:pathLst>
              <a:path w="2287900" h="3712617">
                <a:moveTo>
                  <a:pt x="2287900" y="0"/>
                </a:moveTo>
                <a:lnTo>
                  <a:pt x="0" y="0"/>
                </a:lnTo>
                <a:lnTo>
                  <a:pt x="0" y="3712617"/>
                </a:lnTo>
                <a:lnTo>
                  <a:pt x="2287900" y="3712617"/>
                </a:lnTo>
                <a:lnTo>
                  <a:pt x="228790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3507307" y="2940909"/>
            <a:ext cx="5978033" cy="1614069"/>
          </a:xfrm>
          <a:custGeom>
            <a:avLst/>
            <a:gdLst/>
            <a:ahLst/>
            <a:cxnLst/>
            <a:rect l="l" t="t" r="r" b="b"/>
            <a:pathLst>
              <a:path w="5978033" h="1614069">
                <a:moveTo>
                  <a:pt x="0" y="0"/>
                </a:moveTo>
                <a:lnTo>
                  <a:pt x="5978032" y="0"/>
                </a:lnTo>
                <a:lnTo>
                  <a:pt x="5978032" y="1614068"/>
                </a:lnTo>
                <a:lnTo>
                  <a:pt x="0" y="16140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TextBox 4"/>
          <p:cNvSpPr txBox="1"/>
          <p:nvPr/>
        </p:nvSpPr>
        <p:spPr>
          <a:xfrm>
            <a:off x="828317" y="791184"/>
            <a:ext cx="4666817" cy="1064133"/>
          </a:xfrm>
          <a:prstGeom prst="rect">
            <a:avLst/>
          </a:prstGeom>
        </p:spPr>
        <p:txBody>
          <a:bodyPr lIns="0" tIns="0" rIns="0" bIns="0" rtlCol="0" anchor="t">
            <a:spAutoFit/>
          </a:bodyPr>
          <a:lstStyle/>
          <a:p>
            <a:pPr algn="l">
              <a:lnSpc>
                <a:spcPts val="7956"/>
              </a:lnSpc>
            </a:pPr>
            <a:r>
              <a:rPr lang="en-US" sz="7800">
                <a:solidFill>
                  <a:srgbClr val="000000"/>
                </a:solidFill>
                <a:latin typeface="Lilita One"/>
                <a:ea typeface="Lilita One"/>
                <a:cs typeface="Lilita One"/>
                <a:sym typeface="Lilita One"/>
              </a:rPr>
              <a:t>SOLUTION</a:t>
            </a:r>
          </a:p>
        </p:txBody>
      </p:sp>
      <p:sp>
        <p:nvSpPr>
          <p:cNvPr id="5" name="Freeform 5"/>
          <p:cNvSpPr/>
          <p:nvPr/>
        </p:nvSpPr>
        <p:spPr>
          <a:xfrm>
            <a:off x="14842957" y="2565558"/>
            <a:ext cx="5978033" cy="1614069"/>
          </a:xfrm>
          <a:custGeom>
            <a:avLst/>
            <a:gdLst/>
            <a:ahLst/>
            <a:cxnLst/>
            <a:rect l="l" t="t" r="r" b="b"/>
            <a:pathLst>
              <a:path w="5978033" h="1614069">
                <a:moveTo>
                  <a:pt x="0" y="0"/>
                </a:moveTo>
                <a:lnTo>
                  <a:pt x="5978032" y="0"/>
                </a:lnTo>
                <a:lnTo>
                  <a:pt x="5978032" y="1614069"/>
                </a:lnTo>
                <a:lnTo>
                  <a:pt x="0" y="16140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6" name="Freeform 6"/>
          <p:cNvSpPr/>
          <p:nvPr/>
        </p:nvSpPr>
        <p:spPr>
          <a:xfrm flipH="1">
            <a:off x="10052766" y="3645503"/>
            <a:ext cx="7779206" cy="6641497"/>
          </a:xfrm>
          <a:custGeom>
            <a:avLst/>
            <a:gdLst/>
            <a:ahLst/>
            <a:cxnLst/>
            <a:rect l="l" t="t" r="r" b="b"/>
            <a:pathLst>
              <a:path w="7779206" h="6641497">
                <a:moveTo>
                  <a:pt x="7779207" y="0"/>
                </a:moveTo>
                <a:lnTo>
                  <a:pt x="0" y="0"/>
                </a:lnTo>
                <a:lnTo>
                  <a:pt x="0" y="6641497"/>
                </a:lnTo>
                <a:lnTo>
                  <a:pt x="7779207" y="6641497"/>
                </a:lnTo>
                <a:lnTo>
                  <a:pt x="7779207"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7" name="TextBox 7"/>
          <p:cNvSpPr txBox="1"/>
          <p:nvPr/>
        </p:nvSpPr>
        <p:spPr>
          <a:xfrm>
            <a:off x="478995" y="2295839"/>
            <a:ext cx="10675003" cy="4243097"/>
          </a:xfrm>
          <a:prstGeom prst="rect">
            <a:avLst/>
          </a:prstGeom>
        </p:spPr>
        <p:txBody>
          <a:bodyPr lIns="0" tIns="0" rIns="0" bIns="0" rtlCol="0" anchor="t">
            <a:spAutoFit/>
          </a:bodyPr>
          <a:lstStyle/>
          <a:p>
            <a:pPr algn="l">
              <a:lnSpc>
                <a:spcPts val="3334"/>
              </a:lnSpc>
              <a:spcBef>
                <a:spcPct val="0"/>
              </a:spcBef>
            </a:pPr>
            <a:r>
              <a:rPr lang="en-US" sz="3268">
                <a:solidFill>
                  <a:srgbClr val="000000"/>
                </a:solidFill>
                <a:latin typeface="Sensei"/>
                <a:ea typeface="Sensei"/>
                <a:cs typeface="Sensei"/>
                <a:sym typeface="Sensei"/>
              </a:rPr>
              <a:t>"ENTER DALLA3 KERSHAK—THE DIGITAL FOOD COURT. WE ALLOW STUDENTS TO ORDER THEIR FOOD WHILE THEY ARE STILL SITTING IN THE LECTURE HALL. THEY OPEN THE APP, BROWSE THE MENUS, AND SCHEDULE AN EXACT PICKUP TIME. THEY PAY INSTANTLY THROUGH OUR CLOSED-LOOP DIGITAL WALLET. MEANWHILE, THE VENDOR RECEIVES THE ORDER ON A SIMPLE, FAST TABLET DASHBOARD. WHEN THE LECTURE ENDS, THE STUDENT WALKS DIRECTLY PAST THE MASSIVE LINE, PICKS UP THEIR HOT FOOD, AND LEAVES. WHAT USED TO TAKE 25 MINUTES NOW TAKES 30 SECONDS."</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1122265" y="8515891"/>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5707747" y="543501"/>
            <a:ext cx="7093197" cy="2562418"/>
          </a:xfrm>
          <a:custGeom>
            <a:avLst/>
            <a:gdLst/>
            <a:ahLst/>
            <a:cxnLst/>
            <a:rect l="l" t="t" r="r" b="b"/>
            <a:pathLst>
              <a:path w="7093197" h="2562418">
                <a:moveTo>
                  <a:pt x="0" y="0"/>
                </a:moveTo>
                <a:lnTo>
                  <a:pt x="7093197" y="0"/>
                </a:lnTo>
                <a:lnTo>
                  <a:pt x="7093197" y="2562417"/>
                </a:lnTo>
                <a:lnTo>
                  <a:pt x="0" y="256241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Freeform 4"/>
          <p:cNvSpPr/>
          <p:nvPr/>
        </p:nvSpPr>
        <p:spPr>
          <a:xfrm>
            <a:off x="15089782" y="6795683"/>
            <a:ext cx="3198218" cy="3674353"/>
          </a:xfrm>
          <a:custGeom>
            <a:avLst/>
            <a:gdLst/>
            <a:ahLst/>
            <a:cxnLst/>
            <a:rect l="l" t="t" r="r" b="b"/>
            <a:pathLst>
              <a:path w="3198218" h="3674353">
                <a:moveTo>
                  <a:pt x="0" y="0"/>
                </a:moveTo>
                <a:lnTo>
                  <a:pt x="3198218" y="0"/>
                </a:lnTo>
                <a:lnTo>
                  <a:pt x="3198218" y="3674353"/>
                </a:lnTo>
                <a:lnTo>
                  <a:pt x="0" y="3674353"/>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5" name="Freeform 5"/>
          <p:cNvSpPr/>
          <p:nvPr/>
        </p:nvSpPr>
        <p:spPr>
          <a:xfrm>
            <a:off x="14593412" y="208399"/>
            <a:ext cx="5978033" cy="1614069"/>
          </a:xfrm>
          <a:custGeom>
            <a:avLst/>
            <a:gdLst/>
            <a:ahLst/>
            <a:cxnLst/>
            <a:rect l="l" t="t" r="r" b="b"/>
            <a:pathLst>
              <a:path w="5978033" h="1614069">
                <a:moveTo>
                  <a:pt x="0" y="0"/>
                </a:moveTo>
                <a:lnTo>
                  <a:pt x="5978033" y="0"/>
                </a:lnTo>
                <a:lnTo>
                  <a:pt x="5978033" y="1614069"/>
                </a:lnTo>
                <a:lnTo>
                  <a:pt x="0" y="1614069"/>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6" name="Freeform 6"/>
          <p:cNvSpPr/>
          <p:nvPr/>
        </p:nvSpPr>
        <p:spPr>
          <a:xfrm>
            <a:off x="-1770472" y="1314563"/>
            <a:ext cx="5978033" cy="1614069"/>
          </a:xfrm>
          <a:custGeom>
            <a:avLst/>
            <a:gdLst/>
            <a:ahLst/>
            <a:cxnLst/>
            <a:rect l="l" t="t" r="r" b="b"/>
            <a:pathLst>
              <a:path w="5978033" h="1614069">
                <a:moveTo>
                  <a:pt x="0" y="0"/>
                </a:moveTo>
                <a:lnTo>
                  <a:pt x="5978033" y="0"/>
                </a:lnTo>
                <a:lnTo>
                  <a:pt x="5978033" y="1614068"/>
                </a:lnTo>
                <a:lnTo>
                  <a:pt x="0" y="16140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7" name="TextBox 7"/>
          <p:cNvSpPr txBox="1"/>
          <p:nvPr/>
        </p:nvSpPr>
        <p:spPr>
          <a:xfrm>
            <a:off x="1280617" y="3196851"/>
            <a:ext cx="15517217" cy="4050030"/>
          </a:xfrm>
          <a:prstGeom prst="rect">
            <a:avLst/>
          </a:prstGeom>
        </p:spPr>
        <p:txBody>
          <a:bodyPr lIns="0" tIns="0" rIns="0" bIns="0" rtlCol="0" anchor="t">
            <a:spAutoFit/>
          </a:bodyPr>
          <a:lstStyle/>
          <a:p>
            <a:pPr algn="ctr">
              <a:lnSpc>
                <a:spcPts val="4620"/>
              </a:lnSpc>
            </a:pPr>
            <a:r>
              <a:rPr lang="en-US" sz="3300">
                <a:solidFill>
                  <a:srgbClr val="000000"/>
                </a:solidFill>
                <a:latin typeface="Sensei"/>
                <a:ea typeface="Sensei"/>
                <a:cs typeface="Sensei"/>
                <a:sym typeface="Sensei"/>
              </a:rPr>
              <a:t>The market size here is incredibly dense. We aren't targeting a spread-out city; we are targeting thousands of students trapped in a single geographical area. At ECU alone, we have thousands of students who eat on campus almost every single day. Food is a daily, repeated habit. More importantly, this is a completely untapped niche. Once we perfect the model here at ECU, there are dozens of private universities in Egypt suffering from the exact same problem, allowing us to expand rapidly.</a:t>
            </a:r>
          </a:p>
        </p:txBody>
      </p:sp>
      <p:sp>
        <p:nvSpPr>
          <p:cNvPr id="8" name="TextBox 8"/>
          <p:cNvSpPr txBox="1"/>
          <p:nvPr/>
        </p:nvSpPr>
        <p:spPr>
          <a:xfrm>
            <a:off x="6036234" y="849731"/>
            <a:ext cx="6436222" cy="2073783"/>
          </a:xfrm>
          <a:prstGeom prst="rect">
            <a:avLst/>
          </a:prstGeom>
        </p:spPr>
        <p:txBody>
          <a:bodyPr lIns="0" tIns="0" rIns="0" bIns="0" rtlCol="0" anchor="t">
            <a:spAutoFit/>
          </a:bodyPr>
          <a:lstStyle/>
          <a:p>
            <a:pPr algn="ctr">
              <a:lnSpc>
                <a:spcPts val="7956"/>
              </a:lnSpc>
            </a:pPr>
            <a:r>
              <a:rPr lang="en-US" sz="7800">
                <a:solidFill>
                  <a:srgbClr val="FFFFFF"/>
                </a:solidFill>
                <a:latin typeface="Lilita One"/>
                <a:ea typeface="Lilita One"/>
                <a:cs typeface="Lilita One"/>
                <a:sym typeface="Lilita One"/>
              </a:rPr>
              <a:t>MARKET OPPORTUNITY</a:t>
            </a:r>
          </a:p>
        </p:txBody>
      </p:sp>
      <p:sp>
        <p:nvSpPr>
          <p:cNvPr id="9" name="Freeform 9"/>
          <p:cNvSpPr/>
          <p:nvPr/>
        </p:nvSpPr>
        <p:spPr>
          <a:xfrm flipH="1">
            <a:off x="0" y="7220626"/>
            <a:ext cx="3611362" cy="3066374"/>
          </a:xfrm>
          <a:custGeom>
            <a:avLst/>
            <a:gdLst/>
            <a:ahLst/>
            <a:cxnLst/>
            <a:rect l="l" t="t" r="r" b="b"/>
            <a:pathLst>
              <a:path w="3611362" h="3066374">
                <a:moveTo>
                  <a:pt x="3611362" y="0"/>
                </a:moveTo>
                <a:lnTo>
                  <a:pt x="0" y="0"/>
                </a:lnTo>
                <a:lnTo>
                  <a:pt x="0" y="3066374"/>
                </a:lnTo>
                <a:lnTo>
                  <a:pt x="3611362" y="3066374"/>
                </a:lnTo>
                <a:lnTo>
                  <a:pt x="3611362"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1112740" y="9183775"/>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5922754" y="402520"/>
            <a:ext cx="6579632" cy="2519451"/>
          </a:xfrm>
          <a:custGeom>
            <a:avLst/>
            <a:gdLst/>
            <a:ahLst/>
            <a:cxnLst/>
            <a:rect l="l" t="t" r="r" b="b"/>
            <a:pathLst>
              <a:path w="6579632" h="2519451">
                <a:moveTo>
                  <a:pt x="0" y="0"/>
                </a:moveTo>
                <a:lnTo>
                  <a:pt x="6579631" y="0"/>
                </a:lnTo>
                <a:lnTo>
                  <a:pt x="6579631" y="2519451"/>
                </a:lnTo>
                <a:lnTo>
                  <a:pt x="0" y="251945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TextBox 4"/>
          <p:cNvSpPr txBox="1"/>
          <p:nvPr/>
        </p:nvSpPr>
        <p:spPr>
          <a:xfrm>
            <a:off x="7373570" y="838663"/>
            <a:ext cx="3863937" cy="1913737"/>
          </a:xfrm>
          <a:prstGeom prst="rect">
            <a:avLst/>
          </a:prstGeom>
        </p:spPr>
        <p:txBody>
          <a:bodyPr lIns="0" tIns="0" rIns="0" bIns="0" rtlCol="0" anchor="t">
            <a:spAutoFit/>
          </a:bodyPr>
          <a:lstStyle/>
          <a:p>
            <a:pPr algn="ctr">
              <a:lnSpc>
                <a:spcPts val="7342"/>
              </a:lnSpc>
            </a:pPr>
            <a:r>
              <a:rPr lang="en-US" sz="7198">
                <a:solidFill>
                  <a:srgbClr val="FFFFFF"/>
                </a:solidFill>
                <a:latin typeface="Lilita One"/>
                <a:ea typeface="Lilita One"/>
                <a:cs typeface="Lilita One"/>
                <a:sym typeface="Lilita One"/>
              </a:rPr>
              <a:t>Business Model</a:t>
            </a:r>
          </a:p>
        </p:txBody>
      </p:sp>
      <p:sp>
        <p:nvSpPr>
          <p:cNvPr id="5" name="TextBox 5"/>
          <p:cNvSpPr txBox="1"/>
          <p:nvPr/>
        </p:nvSpPr>
        <p:spPr>
          <a:xfrm>
            <a:off x="1389298" y="3115092"/>
            <a:ext cx="15870002" cy="3469005"/>
          </a:xfrm>
          <a:prstGeom prst="rect">
            <a:avLst/>
          </a:prstGeom>
        </p:spPr>
        <p:txBody>
          <a:bodyPr lIns="0" tIns="0" rIns="0" bIns="0" rtlCol="0" anchor="t">
            <a:spAutoFit/>
          </a:bodyPr>
          <a:lstStyle/>
          <a:p>
            <a:pPr algn="ctr">
              <a:lnSpc>
                <a:spcPts val="4620"/>
              </a:lnSpc>
            </a:pPr>
            <a:r>
              <a:rPr lang="en-US" sz="3300">
                <a:solidFill>
                  <a:srgbClr val="000000"/>
                </a:solidFill>
                <a:latin typeface="Sensei"/>
                <a:ea typeface="Sensei"/>
                <a:cs typeface="Sensei"/>
                <a:sym typeface="Sensei"/>
              </a:rPr>
              <a:t>Our business model is extremely lean and profitable because we have absolutely zero delivery logistics. We charge a flat, micro-commission of 5 EGP per completed order. It’s cheap enough that vendors won't push back, but highly lucrative at scale. In the future, we will unlock secondary revenue streams by charging vendors for promoted listings—allowing them to appear at the top of the app—and introducing subscription features for advanced vendor analytics.</a:t>
            </a:r>
          </a:p>
        </p:txBody>
      </p:sp>
      <p:sp>
        <p:nvSpPr>
          <p:cNvPr id="6" name="Freeform 6"/>
          <p:cNvSpPr/>
          <p:nvPr/>
        </p:nvSpPr>
        <p:spPr>
          <a:xfrm>
            <a:off x="15298984" y="436894"/>
            <a:ext cx="5978033" cy="1614069"/>
          </a:xfrm>
          <a:custGeom>
            <a:avLst/>
            <a:gdLst/>
            <a:ahLst/>
            <a:cxnLst/>
            <a:rect l="l" t="t" r="r" b="b"/>
            <a:pathLst>
              <a:path w="5978033" h="1614069">
                <a:moveTo>
                  <a:pt x="0" y="0"/>
                </a:moveTo>
                <a:lnTo>
                  <a:pt x="5978032" y="0"/>
                </a:lnTo>
                <a:lnTo>
                  <a:pt x="5978032" y="1614069"/>
                </a:lnTo>
                <a:lnTo>
                  <a:pt x="0" y="161406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7" name="Freeform 7"/>
          <p:cNvSpPr/>
          <p:nvPr/>
        </p:nvSpPr>
        <p:spPr>
          <a:xfrm>
            <a:off x="12890333" y="6584097"/>
            <a:ext cx="5397667" cy="3896135"/>
          </a:xfrm>
          <a:custGeom>
            <a:avLst/>
            <a:gdLst/>
            <a:ahLst/>
            <a:cxnLst/>
            <a:rect l="l" t="t" r="r" b="b"/>
            <a:pathLst>
              <a:path w="5397667" h="3896135">
                <a:moveTo>
                  <a:pt x="0" y="0"/>
                </a:moveTo>
                <a:lnTo>
                  <a:pt x="5397667" y="0"/>
                </a:lnTo>
                <a:lnTo>
                  <a:pt x="5397667" y="3896134"/>
                </a:lnTo>
                <a:lnTo>
                  <a:pt x="0" y="389613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8" name="Freeform 8"/>
          <p:cNvSpPr/>
          <p:nvPr/>
        </p:nvSpPr>
        <p:spPr>
          <a:xfrm flipH="1">
            <a:off x="245348" y="6574383"/>
            <a:ext cx="2287900" cy="3712617"/>
          </a:xfrm>
          <a:custGeom>
            <a:avLst/>
            <a:gdLst/>
            <a:ahLst/>
            <a:cxnLst/>
            <a:rect l="l" t="t" r="r" b="b"/>
            <a:pathLst>
              <a:path w="2287900" h="3712617">
                <a:moveTo>
                  <a:pt x="2287900" y="0"/>
                </a:moveTo>
                <a:lnTo>
                  <a:pt x="0" y="0"/>
                </a:lnTo>
                <a:lnTo>
                  <a:pt x="0" y="3712617"/>
                </a:lnTo>
                <a:lnTo>
                  <a:pt x="2287900" y="3712617"/>
                </a:lnTo>
                <a:lnTo>
                  <a:pt x="228790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1112740" y="9183775"/>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TextBox 3"/>
          <p:cNvSpPr txBox="1"/>
          <p:nvPr/>
        </p:nvSpPr>
        <p:spPr>
          <a:xfrm>
            <a:off x="3274631" y="269754"/>
            <a:ext cx="11738737" cy="974174"/>
          </a:xfrm>
          <a:prstGeom prst="rect">
            <a:avLst/>
          </a:prstGeom>
        </p:spPr>
        <p:txBody>
          <a:bodyPr lIns="0" tIns="0" rIns="0" bIns="0" rtlCol="0" anchor="t">
            <a:spAutoFit/>
          </a:bodyPr>
          <a:lstStyle/>
          <a:p>
            <a:pPr algn="ctr">
              <a:lnSpc>
                <a:spcPts val="7342"/>
              </a:lnSpc>
            </a:pPr>
            <a:r>
              <a:rPr lang="en-US" sz="7198">
                <a:solidFill>
                  <a:srgbClr val="A9552E"/>
                </a:solidFill>
                <a:latin typeface="Lilita One"/>
                <a:ea typeface="Lilita One"/>
                <a:cs typeface="Lilita One"/>
                <a:sym typeface="Lilita One"/>
              </a:rPr>
              <a:t> Business Model Canvas</a:t>
            </a:r>
          </a:p>
        </p:txBody>
      </p:sp>
      <p:sp>
        <p:nvSpPr>
          <p:cNvPr id="4" name="Freeform 4"/>
          <p:cNvSpPr/>
          <p:nvPr/>
        </p:nvSpPr>
        <p:spPr>
          <a:xfrm>
            <a:off x="15298984" y="436894"/>
            <a:ext cx="5978033" cy="1614069"/>
          </a:xfrm>
          <a:custGeom>
            <a:avLst/>
            <a:gdLst/>
            <a:ahLst/>
            <a:cxnLst/>
            <a:rect l="l" t="t" r="r" b="b"/>
            <a:pathLst>
              <a:path w="5978033" h="1614069">
                <a:moveTo>
                  <a:pt x="0" y="0"/>
                </a:moveTo>
                <a:lnTo>
                  <a:pt x="5978032" y="0"/>
                </a:lnTo>
                <a:lnTo>
                  <a:pt x="5978032" y="1614069"/>
                </a:lnTo>
                <a:lnTo>
                  <a:pt x="0" y="161406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5" name="Freeform 5"/>
          <p:cNvSpPr/>
          <p:nvPr/>
        </p:nvSpPr>
        <p:spPr>
          <a:xfrm>
            <a:off x="1149964" y="1243929"/>
            <a:ext cx="15988073" cy="8993291"/>
          </a:xfrm>
          <a:custGeom>
            <a:avLst/>
            <a:gdLst/>
            <a:ahLst/>
            <a:cxnLst/>
            <a:rect l="l" t="t" r="r" b="b"/>
            <a:pathLst>
              <a:path w="15988073" h="8993291">
                <a:moveTo>
                  <a:pt x="0" y="0"/>
                </a:moveTo>
                <a:lnTo>
                  <a:pt x="15988072" y="0"/>
                </a:lnTo>
                <a:lnTo>
                  <a:pt x="15988072" y="8993290"/>
                </a:lnTo>
                <a:lnTo>
                  <a:pt x="0" y="8993290"/>
                </a:lnTo>
                <a:lnTo>
                  <a:pt x="0" y="0"/>
                </a:lnTo>
                <a:close/>
              </a:path>
            </a:pathLst>
          </a:custGeom>
          <a:blipFill>
            <a:blip r:embed="rId4"/>
            <a:stretch>
              <a:fillRect/>
            </a:stretch>
          </a:blipFill>
        </p:spPr>
        <p:txBody>
          <a:bodyPr/>
          <a:lstStyle/>
          <a:p>
            <a:endParaRPr lang="ar-EG"/>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15065610" y="368961"/>
            <a:ext cx="5978033" cy="1614069"/>
          </a:xfrm>
          <a:custGeom>
            <a:avLst/>
            <a:gdLst/>
            <a:ahLst/>
            <a:cxnLst/>
            <a:rect l="l" t="t" r="r" b="b"/>
            <a:pathLst>
              <a:path w="5978033" h="1614069">
                <a:moveTo>
                  <a:pt x="0" y="0"/>
                </a:moveTo>
                <a:lnTo>
                  <a:pt x="5978033" y="0"/>
                </a:lnTo>
                <a:lnTo>
                  <a:pt x="5978033" y="1614069"/>
                </a:lnTo>
                <a:lnTo>
                  <a:pt x="0" y="161406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2755643" y="368961"/>
            <a:ext cx="5978033" cy="1614069"/>
          </a:xfrm>
          <a:custGeom>
            <a:avLst/>
            <a:gdLst/>
            <a:ahLst/>
            <a:cxnLst/>
            <a:rect l="l" t="t" r="r" b="b"/>
            <a:pathLst>
              <a:path w="5978033" h="1614069">
                <a:moveTo>
                  <a:pt x="0" y="0"/>
                </a:moveTo>
                <a:lnTo>
                  <a:pt x="5978033" y="0"/>
                </a:lnTo>
                <a:lnTo>
                  <a:pt x="5978033" y="1614069"/>
                </a:lnTo>
                <a:lnTo>
                  <a:pt x="0" y="161406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4" name="Freeform 4"/>
          <p:cNvSpPr/>
          <p:nvPr/>
        </p:nvSpPr>
        <p:spPr>
          <a:xfrm>
            <a:off x="-1112740" y="9183775"/>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5" name="Freeform 5"/>
          <p:cNvSpPr/>
          <p:nvPr/>
        </p:nvSpPr>
        <p:spPr>
          <a:xfrm>
            <a:off x="0" y="6738404"/>
            <a:ext cx="3514588" cy="3548596"/>
          </a:xfrm>
          <a:custGeom>
            <a:avLst/>
            <a:gdLst/>
            <a:ahLst/>
            <a:cxnLst/>
            <a:rect l="l" t="t" r="r" b="b"/>
            <a:pathLst>
              <a:path w="3514588" h="3548596">
                <a:moveTo>
                  <a:pt x="0" y="0"/>
                </a:moveTo>
                <a:lnTo>
                  <a:pt x="3514588" y="0"/>
                </a:lnTo>
                <a:lnTo>
                  <a:pt x="3514588" y="3548596"/>
                </a:lnTo>
                <a:lnTo>
                  <a:pt x="0" y="354859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6" name="Freeform 6"/>
          <p:cNvSpPr/>
          <p:nvPr/>
        </p:nvSpPr>
        <p:spPr>
          <a:xfrm>
            <a:off x="13868005" y="6478040"/>
            <a:ext cx="4954744" cy="3808960"/>
          </a:xfrm>
          <a:custGeom>
            <a:avLst/>
            <a:gdLst/>
            <a:ahLst/>
            <a:cxnLst/>
            <a:rect l="l" t="t" r="r" b="b"/>
            <a:pathLst>
              <a:path w="4954744" h="3808960">
                <a:moveTo>
                  <a:pt x="0" y="0"/>
                </a:moveTo>
                <a:lnTo>
                  <a:pt x="4954744" y="0"/>
                </a:lnTo>
                <a:lnTo>
                  <a:pt x="4954744" y="3808960"/>
                </a:lnTo>
                <a:lnTo>
                  <a:pt x="0" y="380896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7" name="Freeform 7"/>
          <p:cNvSpPr/>
          <p:nvPr/>
        </p:nvSpPr>
        <p:spPr>
          <a:xfrm flipH="1">
            <a:off x="4192964" y="8076680"/>
            <a:ext cx="1172391" cy="2210320"/>
          </a:xfrm>
          <a:custGeom>
            <a:avLst/>
            <a:gdLst/>
            <a:ahLst/>
            <a:cxnLst/>
            <a:rect l="l" t="t" r="r" b="b"/>
            <a:pathLst>
              <a:path w="1172391" h="2210320">
                <a:moveTo>
                  <a:pt x="1172391" y="0"/>
                </a:moveTo>
                <a:lnTo>
                  <a:pt x="0" y="0"/>
                </a:lnTo>
                <a:lnTo>
                  <a:pt x="0" y="2210320"/>
                </a:lnTo>
                <a:lnTo>
                  <a:pt x="1172391" y="2210320"/>
                </a:lnTo>
                <a:lnTo>
                  <a:pt x="1172391"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
        <p:nvSpPr>
          <p:cNvPr id="8" name="TextBox 8"/>
          <p:cNvSpPr txBox="1"/>
          <p:nvPr/>
        </p:nvSpPr>
        <p:spPr>
          <a:xfrm>
            <a:off x="3750878" y="1008051"/>
            <a:ext cx="10805293" cy="2073783"/>
          </a:xfrm>
          <a:prstGeom prst="rect">
            <a:avLst/>
          </a:prstGeom>
        </p:spPr>
        <p:txBody>
          <a:bodyPr lIns="0" tIns="0" rIns="0" bIns="0" rtlCol="0" anchor="t">
            <a:spAutoFit/>
          </a:bodyPr>
          <a:lstStyle/>
          <a:p>
            <a:pPr algn="ctr">
              <a:lnSpc>
                <a:spcPts val="7956"/>
              </a:lnSpc>
            </a:pPr>
            <a:r>
              <a:rPr lang="en-US" sz="7800">
                <a:solidFill>
                  <a:srgbClr val="A9552E"/>
                </a:solidFill>
                <a:latin typeface="Lilita One"/>
                <a:ea typeface="Lilita One"/>
                <a:cs typeface="Lilita One"/>
                <a:sym typeface="Lilita One"/>
              </a:rPr>
              <a:t>GO-TO-MARKET STRATEGY</a:t>
            </a:r>
          </a:p>
        </p:txBody>
      </p:sp>
      <p:sp>
        <p:nvSpPr>
          <p:cNvPr id="9" name="TextBox 9"/>
          <p:cNvSpPr txBox="1"/>
          <p:nvPr/>
        </p:nvSpPr>
        <p:spPr>
          <a:xfrm>
            <a:off x="1385392" y="3226940"/>
            <a:ext cx="15517217" cy="3469005"/>
          </a:xfrm>
          <a:prstGeom prst="rect">
            <a:avLst/>
          </a:prstGeom>
        </p:spPr>
        <p:txBody>
          <a:bodyPr lIns="0" tIns="0" rIns="0" bIns="0" rtlCol="0" anchor="t">
            <a:spAutoFit/>
          </a:bodyPr>
          <a:lstStyle/>
          <a:p>
            <a:pPr algn="ctr">
              <a:lnSpc>
                <a:spcPts val="4620"/>
              </a:lnSpc>
            </a:pPr>
            <a:r>
              <a:rPr lang="en-US" sz="3300">
                <a:solidFill>
                  <a:srgbClr val="000000"/>
                </a:solidFill>
                <a:latin typeface="Sensei"/>
                <a:ea typeface="Sensei"/>
                <a:cs typeface="Sensei"/>
                <a:sym typeface="Sensei"/>
              </a:rPr>
              <a:t>To acquire users, we don't need expensive billboards. We know exactly where our users are. We will launch exclusively inside ECU to start. We are placing giant QR codes at every cafeteria. We are recruiting popular students to act as brand ambassadors, and we are running highly targeted, relatable TikTok campaigns showing the pain of waiting in line. We will also run physical activation booths on campus: 'Deposit 50 EGP into the app today, and we'll give you 55 EGP in credit.</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6545179" y="-1396340"/>
            <a:ext cx="5197642" cy="4114800"/>
          </a:xfrm>
          <a:custGeom>
            <a:avLst/>
            <a:gdLst/>
            <a:ahLst/>
            <a:cxnLst/>
            <a:rect l="l" t="t" r="r" b="b"/>
            <a:pathLst>
              <a:path w="5197642" h="4114800">
                <a:moveTo>
                  <a:pt x="0" y="0"/>
                </a:moveTo>
                <a:lnTo>
                  <a:pt x="5197642" y="0"/>
                </a:lnTo>
                <a:lnTo>
                  <a:pt x="5197642"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TextBox 3"/>
          <p:cNvSpPr txBox="1"/>
          <p:nvPr/>
        </p:nvSpPr>
        <p:spPr>
          <a:xfrm>
            <a:off x="6545179" y="718210"/>
            <a:ext cx="5197642" cy="1510030"/>
          </a:xfrm>
          <a:prstGeom prst="rect">
            <a:avLst/>
          </a:prstGeom>
        </p:spPr>
        <p:txBody>
          <a:bodyPr lIns="0" tIns="0" rIns="0" bIns="0" rtlCol="0" anchor="t">
            <a:spAutoFit/>
          </a:bodyPr>
          <a:lstStyle/>
          <a:p>
            <a:pPr algn="ctr">
              <a:lnSpc>
                <a:spcPts val="6019"/>
              </a:lnSpc>
              <a:spcBef>
                <a:spcPct val="0"/>
              </a:spcBef>
            </a:pPr>
            <a:r>
              <a:rPr lang="en-US" sz="4299">
                <a:solidFill>
                  <a:srgbClr val="FFFFFF"/>
                </a:solidFill>
                <a:latin typeface="Sensei"/>
                <a:ea typeface="Sensei"/>
                <a:cs typeface="Sensei"/>
                <a:sym typeface="Sensei"/>
              </a:rPr>
              <a:t>Competition &amp;</a:t>
            </a:r>
          </a:p>
          <a:p>
            <a:pPr algn="ctr">
              <a:lnSpc>
                <a:spcPts val="6019"/>
              </a:lnSpc>
              <a:spcBef>
                <a:spcPct val="0"/>
              </a:spcBef>
            </a:pPr>
            <a:r>
              <a:rPr lang="en-US" sz="4299">
                <a:solidFill>
                  <a:srgbClr val="FFFFFF"/>
                </a:solidFill>
                <a:latin typeface="Sensei"/>
                <a:ea typeface="Sensei"/>
                <a:cs typeface="Sensei"/>
                <a:sym typeface="Sensei"/>
              </a:rPr>
              <a:t> Differentiation</a:t>
            </a:r>
          </a:p>
        </p:txBody>
      </p:sp>
      <p:sp>
        <p:nvSpPr>
          <p:cNvPr id="4" name="Freeform 4"/>
          <p:cNvSpPr/>
          <p:nvPr/>
        </p:nvSpPr>
        <p:spPr>
          <a:xfrm>
            <a:off x="-964897" y="3936645"/>
            <a:ext cx="8775616" cy="6350355"/>
          </a:xfrm>
          <a:custGeom>
            <a:avLst/>
            <a:gdLst/>
            <a:ahLst/>
            <a:cxnLst/>
            <a:rect l="l" t="t" r="r" b="b"/>
            <a:pathLst>
              <a:path w="8775616" h="6350355">
                <a:moveTo>
                  <a:pt x="0" y="0"/>
                </a:moveTo>
                <a:lnTo>
                  <a:pt x="8775615" y="0"/>
                </a:lnTo>
                <a:lnTo>
                  <a:pt x="8775615" y="6350355"/>
                </a:lnTo>
                <a:lnTo>
                  <a:pt x="0" y="6350355"/>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5" name="TextBox 5"/>
          <p:cNvSpPr txBox="1"/>
          <p:nvPr/>
        </p:nvSpPr>
        <p:spPr>
          <a:xfrm>
            <a:off x="6973058" y="2872515"/>
            <a:ext cx="9539526" cy="3796030"/>
          </a:xfrm>
          <a:prstGeom prst="rect">
            <a:avLst/>
          </a:prstGeom>
        </p:spPr>
        <p:txBody>
          <a:bodyPr lIns="0" tIns="0" rIns="0" bIns="0" rtlCol="0" anchor="t">
            <a:spAutoFit/>
          </a:bodyPr>
          <a:lstStyle/>
          <a:p>
            <a:pPr marL="928369" lvl="1" indent="-464185" algn="l">
              <a:lnSpc>
                <a:spcPts val="6019"/>
              </a:lnSpc>
              <a:buFont typeface="Arial"/>
              <a:buChar char="•"/>
            </a:pPr>
            <a:r>
              <a:rPr lang="en-US" sz="4299">
                <a:solidFill>
                  <a:srgbClr val="000000"/>
                </a:solidFill>
                <a:latin typeface="Sensei"/>
                <a:ea typeface="Sensei"/>
                <a:cs typeface="Sensei"/>
                <a:sym typeface="Sensei"/>
              </a:rPr>
              <a:t>Talabat = delivery (not campus-fit)</a:t>
            </a:r>
          </a:p>
          <a:p>
            <a:pPr marL="928369" lvl="1" indent="-464185" algn="l">
              <a:lnSpc>
                <a:spcPts val="6019"/>
              </a:lnSpc>
              <a:buFont typeface="Arial"/>
              <a:buChar char="•"/>
            </a:pPr>
            <a:r>
              <a:rPr lang="en-US" sz="4299">
                <a:solidFill>
                  <a:srgbClr val="000000"/>
                </a:solidFill>
                <a:latin typeface="Sensei"/>
                <a:ea typeface="Sensei"/>
                <a:cs typeface="Sensei"/>
                <a:sym typeface="Sensei"/>
              </a:rPr>
              <a:t>Pickup-only model</a:t>
            </a:r>
          </a:p>
          <a:p>
            <a:pPr marL="928369" lvl="1" indent="-464185" algn="l">
              <a:lnSpc>
                <a:spcPts val="6019"/>
              </a:lnSpc>
              <a:buFont typeface="Arial"/>
              <a:buChar char="•"/>
            </a:pPr>
            <a:r>
              <a:rPr lang="en-US" sz="4299">
                <a:solidFill>
                  <a:srgbClr val="000000"/>
                </a:solidFill>
                <a:latin typeface="Sensei"/>
                <a:ea typeface="Sensei"/>
                <a:cs typeface="Sensei"/>
                <a:sym typeface="Sensei"/>
              </a:rPr>
              <a:t>Faster + cheaper experience</a:t>
            </a:r>
          </a:p>
          <a:p>
            <a:pPr marL="928369" lvl="1" indent="-464185" algn="l">
              <a:lnSpc>
                <a:spcPts val="6019"/>
              </a:lnSpc>
              <a:buFont typeface="Arial"/>
              <a:buChar char="•"/>
            </a:pPr>
            <a:r>
              <a:rPr lang="en-US" sz="4299">
                <a:solidFill>
                  <a:srgbClr val="000000"/>
                </a:solidFill>
                <a:latin typeface="Sensei"/>
                <a:ea typeface="Sensei"/>
                <a:cs typeface="Sensei"/>
                <a:sym typeface="Sensei"/>
              </a:rPr>
              <a:t>No logistics complexity</a:t>
            </a:r>
          </a:p>
          <a:p>
            <a:pPr marL="928369" lvl="1" indent="-464185" algn="l">
              <a:lnSpc>
                <a:spcPts val="6019"/>
              </a:lnSpc>
              <a:buFont typeface="Arial"/>
              <a:buChar char="•"/>
            </a:pPr>
            <a:r>
              <a:rPr lang="en-US" sz="4299">
                <a:solidFill>
                  <a:srgbClr val="000000"/>
                </a:solidFill>
                <a:latin typeface="Sensei"/>
                <a:ea typeface="Sensei"/>
                <a:cs typeface="Sensei"/>
                <a:sym typeface="Sensei"/>
              </a:rPr>
              <a:t>First mover in Egypt</a:t>
            </a:r>
          </a:p>
        </p:txBody>
      </p:sp>
      <p:sp>
        <p:nvSpPr>
          <p:cNvPr id="6" name="TextBox 6"/>
          <p:cNvSpPr txBox="1"/>
          <p:nvPr/>
        </p:nvSpPr>
        <p:spPr>
          <a:xfrm>
            <a:off x="7810718" y="7064198"/>
            <a:ext cx="10009779" cy="2334895"/>
          </a:xfrm>
          <a:prstGeom prst="rect">
            <a:avLst/>
          </a:prstGeom>
        </p:spPr>
        <p:txBody>
          <a:bodyPr lIns="0" tIns="0" rIns="0" bIns="0" rtlCol="0" anchor="t">
            <a:spAutoFit/>
          </a:bodyPr>
          <a:lstStyle/>
          <a:p>
            <a:pPr algn="ctr">
              <a:lnSpc>
                <a:spcPts val="3079"/>
              </a:lnSpc>
              <a:spcBef>
                <a:spcPct val="0"/>
              </a:spcBef>
            </a:pPr>
            <a:r>
              <a:rPr lang="en-US" sz="2199">
                <a:solidFill>
                  <a:srgbClr val="000000"/>
                </a:solidFill>
                <a:latin typeface="Sensei"/>
                <a:ea typeface="Sensei"/>
                <a:cs typeface="Sensei"/>
                <a:sym typeface="Sensei"/>
              </a:rPr>
              <a:t>You might be wondering: Why not just use Talabat or Elmenus? Because those apps are built for delivery, not campuses. Delivery drivers aren't allowed past university security gates, and an order takes 45 minutes. Dalla3 Kershak is hyper-localized. We are built specifically for campus behavior: pickup-only, zero delivery fees, and zero fleet logistics. We have the first-mover advantage in this highly specific niche.</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15038080" y="191808"/>
            <a:ext cx="5978033" cy="1614069"/>
          </a:xfrm>
          <a:custGeom>
            <a:avLst/>
            <a:gdLst/>
            <a:ahLst/>
            <a:cxnLst/>
            <a:rect l="l" t="t" r="r" b="b"/>
            <a:pathLst>
              <a:path w="5978033" h="1614069">
                <a:moveTo>
                  <a:pt x="0" y="0"/>
                </a:moveTo>
                <a:lnTo>
                  <a:pt x="5978033" y="0"/>
                </a:lnTo>
                <a:lnTo>
                  <a:pt x="5978033" y="1614068"/>
                </a:lnTo>
                <a:lnTo>
                  <a:pt x="0" y="161406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2989016" y="1278887"/>
            <a:ext cx="5978033" cy="1614069"/>
          </a:xfrm>
          <a:custGeom>
            <a:avLst/>
            <a:gdLst/>
            <a:ahLst/>
            <a:cxnLst/>
            <a:rect l="l" t="t" r="r" b="b"/>
            <a:pathLst>
              <a:path w="5978033" h="1614069">
                <a:moveTo>
                  <a:pt x="0" y="0"/>
                </a:moveTo>
                <a:lnTo>
                  <a:pt x="5978032" y="0"/>
                </a:lnTo>
                <a:lnTo>
                  <a:pt x="5978032" y="1614069"/>
                </a:lnTo>
                <a:lnTo>
                  <a:pt x="0" y="1614069"/>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4" name="Freeform 4"/>
          <p:cNvSpPr/>
          <p:nvPr/>
        </p:nvSpPr>
        <p:spPr>
          <a:xfrm>
            <a:off x="-892504" y="9258300"/>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5" name="Freeform 5"/>
          <p:cNvSpPr/>
          <p:nvPr/>
        </p:nvSpPr>
        <p:spPr>
          <a:xfrm>
            <a:off x="-190802" y="7687650"/>
            <a:ext cx="2439005" cy="2795421"/>
          </a:xfrm>
          <a:custGeom>
            <a:avLst/>
            <a:gdLst/>
            <a:ahLst/>
            <a:cxnLst/>
            <a:rect l="l" t="t" r="r" b="b"/>
            <a:pathLst>
              <a:path w="2439005" h="2795421">
                <a:moveTo>
                  <a:pt x="0" y="0"/>
                </a:moveTo>
                <a:lnTo>
                  <a:pt x="2439004" y="0"/>
                </a:lnTo>
                <a:lnTo>
                  <a:pt x="2439004" y="2795421"/>
                </a:lnTo>
                <a:lnTo>
                  <a:pt x="0" y="279542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6" name="Freeform 6"/>
          <p:cNvSpPr/>
          <p:nvPr/>
        </p:nvSpPr>
        <p:spPr>
          <a:xfrm>
            <a:off x="-190802" y="7742200"/>
            <a:ext cx="3536571" cy="2686321"/>
          </a:xfrm>
          <a:custGeom>
            <a:avLst/>
            <a:gdLst/>
            <a:ahLst/>
            <a:cxnLst/>
            <a:rect l="l" t="t" r="r" b="b"/>
            <a:pathLst>
              <a:path w="3536571" h="2686321">
                <a:moveTo>
                  <a:pt x="0" y="0"/>
                </a:moveTo>
                <a:lnTo>
                  <a:pt x="3536571" y="0"/>
                </a:lnTo>
                <a:lnTo>
                  <a:pt x="3536571" y="2686320"/>
                </a:lnTo>
                <a:lnTo>
                  <a:pt x="0" y="2686320"/>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7" name="Freeform 7"/>
          <p:cNvSpPr/>
          <p:nvPr/>
        </p:nvSpPr>
        <p:spPr>
          <a:xfrm>
            <a:off x="6545179" y="-1396340"/>
            <a:ext cx="5197642" cy="4114800"/>
          </a:xfrm>
          <a:custGeom>
            <a:avLst/>
            <a:gdLst/>
            <a:ahLst/>
            <a:cxnLst/>
            <a:rect l="l" t="t" r="r" b="b"/>
            <a:pathLst>
              <a:path w="5197642" h="4114800">
                <a:moveTo>
                  <a:pt x="0" y="0"/>
                </a:moveTo>
                <a:lnTo>
                  <a:pt x="5197642" y="0"/>
                </a:lnTo>
                <a:lnTo>
                  <a:pt x="5197642" y="4114800"/>
                </a:lnTo>
                <a:lnTo>
                  <a:pt x="0" y="4114800"/>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
        <p:nvSpPr>
          <p:cNvPr id="8" name="TextBox 8"/>
          <p:cNvSpPr txBox="1"/>
          <p:nvPr/>
        </p:nvSpPr>
        <p:spPr>
          <a:xfrm>
            <a:off x="6036234" y="1122667"/>
            <a:ext cx="6215532" cy="1052210"/>
          </a:xfrm>
          <a:prstGeom prst="rect">
            <a:avLst/>
          </a:prstGeom>
        </p:spPr>
        <p:txBody>
          <a:bodyPr lIns="0" tIns="0" rIns="0" bIns="0" rtlCol="0" anchor="t">
            <a:spAutoFit/>
          </a:bodyPr>
          <a:lstStyle/>
          <a:p>
            <a:pPr algn="ctr">
              <a:lnSpc>
                <a:spcPts val="7932"/>
              </a:lnSpc>
            </a:pPr>
            <a:r>
              <a:rPr lang="en-US" sz="7776">
                <a:solidFill>
                  <a:srgbClr val="FFFFFF"/>
                </a:solidFill>
                <a:latin typeface="Lilita One"/>
                <a:ea typeface="Lilita One"/>
                <a:cs typeface="Lilita One"/>
                <a:sym typeface="Lilita One"/>
              </a:rPr>
              <a:t>Financials</a:t>
            </a:r>
          </a:p>
        </p:txBody>
      </p:sp>
      <p:sp>
        <p:nvSpPr>
          <p:cNvPr id="9" name="Freeform 9"/>
          <p:cNvSpPr/>
          <p:nvPr/>
        </p:nvSpPr>
        <p:spPr>
          <a:xfrm flipH="1">
            <a:off x="16041581" y="7493623"/>
            <a:ext cx="2437222" cy="2793377"/>
          </a:xfrm>
          <a:custGeom>
            <a:avLst/>
            <a:gdLst/>
            <a:ahLst/>
            <a:cxnLst/>
            <a:rect l="l" t="t" r="r" b="b"/>
            <a:pathLst>
              <a:path w="2437222" h="2793377">
                <a:moveTo>
                  <a:pt x="2437221" y="0"/>
                </a:moveTo>
                <a:lnTo>
                  <a:pt x="0" y="0"/>
                </a:lnTo>
                <a:lnTo>
                  <a:pt x="0" y="2793377"/>
                </a:lnTo>
                <a:lnTo>
                  <a:pt x="2437221" y="2793377"/>
                </a:lnTo>
                <a:lnTo>
                  <a:pt x="2437221"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10" name="Freeform 10"/>
          <p:cNvSpPr/>
          <p:nvPr/>
        </p:nvSpPr>
        <p:spPr>
          <a:xfrm>
            <a:off x="14409212" y="7687650"/>
            <a:ext cx="4069590" cy="2518059"/>
          </a:xfrm>
          <a:custGeom>
            <a:avLst/>
            <a:gdLst/>
            <a:ahLst/>
            <a:cxnLst/>
            <a:rect l="l" t="t" r="r" b="b"/>
            <a:pathLst>
              <a:path w="4069590" h="2518059">
                <a:moveTo>
                  <a:pt x="0" y="0"/>
                </a:moveTo>
                <a:lnTo>
                  <a:pt x="4069590" y="0"/>
                </a:lnTo>
                <a:lnTo>
                  <a:pt x="4069590" y="2518058"/>
                </a:lnTo>
                <a:lnTo>
                  <a:pt x="0" y="2518058"/>
                </a:lnTo>
                <a:lnTo>
                  <a:pt x="0" y="0"/>
                </a:lnTo>
                <a:close/>
              </a:path>
            </a:pathLst>
          </a:custGeom>
          <a:blipFill>
            <a:blip>
              <a:extLst>
                <a:ext uri="{96DAC541-7B7A-43D3-8B79-37D633B846F1}">
                  <asvg:svgBlip xmlns:asvg="http://schemas.microsoft.com/office/drawing/2016/SVG/main" r:embed="rId7"/>
                </a:ext>
              </a:extLst>
            </a:blip>
            <a:stretch>
              <a:fillRect/>
            </a:stretch>
          </a:blipFill>
        </p:spPr>
        <p:txBody>
          <a:bodyPr/>
          <a:lstStyle/>
          <a:p>
            <a:endParaRPr lang="ar-EG"/>
          </a:p>
        </p:txBody>
      </p:sp>
      <p:sp>
        <p:nvSpPr>
          <p:cNvPr id="11" name="TextBox 11"/>
          <p:cNvSpPr txBox="1"/>
          <p:nvPr/>
        </p:nvSpPr>
        <p:spPr>
          <a:xfrm>
            <a:off x="1939394" y="3160078"/>
            <a:ext cx="14409212" cy="3909695"/>
          </a:xfrm>
          <a:prstGeom prst="rect">
            <a:avLst/>
          </a:prstGeom>
        </p:spPr>
        <p:txBody>
          <a:bodyPr lIns="0" tIns="0" rIns="0" bIns="0" rtlCol="0" anchor="t">
            <a:spAutoFit/>
          </a:bodyPr>
          <a:lstStyle/>
          <a:p>
            <a:pPr algn="ctr">
              <a:lnSpc>
                <a:spcPts val="4480"/>
              </a:lnSpc>
              <a:spcBef>
                <a:spcPct val="0"/>
              </a:spcBef>
            </a:pPr>
            <a:r>
              <a:rPr lang="en-US" sz="3200">
                <a:solidFill>
                  <a:srgbClr val="000000"/>
                </a:solidFill>
                <a:latin typeface="Sensei"/>
                <a:ea typeface="Sensei"/>
                <a:cs typeface="Sensei"/>
                <a:sym typeface="Sensei"/>
              </a:rPr>
              <a:t>Because we don’t pay drivers, our operational costs are very low. Based on our projections, capturing a limited number of daily orders at ECU will generate around 30,000 to 35,000 EGP in commission revenue in Year 1. As we gradually expand to two or three additional campuses in Year 2, revenue increases to around 70,000 to 80,000 EGP, and reaches approximately 90,000 to 100,000 EGP in Year 3. Since our primary costs are limited to server hosting and targeted marketing, we expect to reach break-even relatively early after launch.</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5486400" y="727326"/>
            <a:ext cx="7315200" cy="1435608"/>
          </a:xfrm>
          <a:custGeom>
            <a:avLst/>
            <a:gdLst/>
            <a:ahLst/>
            <a:cxnLst/>
            <a:rect l="l" t="t" r="r" b="b"/>
            <a:pathLst>
              <a:path w="7315200" h="1435608">
                <a:moveTo>
                  <a:pt x="0" y="0"/>
                </a:moveTo>
                <a:lnTo>
                  <a:pt x="7315200" y="0"/>
                </a:lnTo>
                <a:lnTo>
                  <a:pt x="7315200" y="1435608"/>
                </a:lnTo>
                <a:lnTo>
                  <a:pt x="0" y="14356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988915" y="9258300"/>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Freeform 4"/>
          <p:cNvSpPr/>
          <p:nvPr/>
        </p:nvSpPr>
        <p:spPr>
          <a:xfrm>
            <a:off x="15038080" y="7001679"/>
            <a:ext cx="2713128" cy="3285321"/>
          </a:xfrm>
          <a:custGeom>
            <a:avLst/>
            <a:gdLst/>
            <a:ahLst/>
            <a:cxnLst/>
            <a:rect l="l" t="t" r="r" b="b"/>
            <a:pathLst>
              <a:path w="2713128" h="3285321">
                <a:moveTo>
                  <a:pt x="0" y="0"/>
                </a:moveTo>
                <a:lnTo>
                  <a:pt x="2713128" y="0"/>
                </a:lnTo>
                <a:lnTo>
                  <a:pt x="2713128" y="3285321"/>
                </a:lnTo>
                <a:lnTo>
                  <a:pt x="0" y="328532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5" name="Freeform 5"/>
          <p:cNvSpPr/>
          <p:nvPr/>
        </p:nvSpPr>
        <p:spPr>
          <a:xfrm>
            <a:off x="0" y="8084716"/>
            <a:ext cx="2258753" cy="2202284"/>
          </a:xfrm>
          <a:custGeom>
            <a:avLst/>
            <a:gdLst/>
            <a:ahLst/>
            <a:cxnLst/>
            <a:rect l="l" t="t" r="r" b="b"/>
            <a:pathLst>
              <a:path w="2258753" h="2202284">
                <a:moveTo>
                  <a:pt x="0" y="0"/>
                </a:moveTo>
                <a:lnTo>
                  <a:pt x="2258753" y="0"/>
                </a:lnTo>
                <a:lnTo>
                  <a:pt x="2258753" y="2202284"/>
                </a:lnTo>
                <a:lnTo>
                  <a:pt x="0" y="2202284"/>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6" name="TextBox 6"/>
          <p:cNvSpPr txBox="1"/>
          <p:nvPr/>
        </p:nvSpPr>
        <p:spPr>
          <a:xfrm>
            <a:off x="6036234" y="980971"/>
            <a:ext cx="6215532" cy="1054077"/>
          </a:xfrm>
          <a:prstGeom prst="rect">
            <a:avLst/>
          </a:prstGeom>
        </p:spPr>
        <p:txBody>
          <a:bodyPr lIns="0" tIns="0" rIns="0" bIns="0" rtlCol="0" anchor="t">
            <a:spAutoFit/>
          </a:bodyPr>
          <a:lstStyle/>
          <a:p>
            <a:pPr algn="ctr">
              <a:lnSpc>
                <a:spcPts val="7932"/>
              </a:lnSpc>
            </a:pPr>
            <a:r>
              <a:rPr lang="en-US" sz="7776">
                <a:solidFill>
                  <a:srgbClr val="FFFFFF"/>
                </a:solidFill>
                <a:latin typeface="Lilita One"/>
                <a:ea typeface="Lilita One"/>
                <a:cs typeface="Lilita One"/>
                <a:sym typeface="Lilita One"/>
              </a:rPr>
              <a:t>The Ask</a:t>
            </a:r>
          </a:p>
        </p:txBody>
      </p:sp>
      <p:sp>
        <p:nvSpPr>
          <p:cNvPr id="7" name="TextBox 7"/>
          <p:cNvSpPr txBox="1"/>
          <p:nvPr/>
        </p:nvSpPr>
        <p:spPr>
          <a:xfrm>
            <a:off x="1208999" y="2453425"/>
            <a:ext cx="15870002" cy="5549900"/>
          </a:xfrm>
          <a:prstGeom prst="rect">
            <a:avLst/>
          </a:prstGeom>
        </p:spPr>
        <p:txBody>
          <a:bodyPr lIns="0" tIns="0" rIns="0" bIns="0" rtlCol="0" anchor="t">
            <a:spAutoFit/>
          </a:bodyPr>
          <a:lstStyle/>
          <a:p>
            <a:pPr algn="l">
              <a:lnSpc>
                <a:spcPts val="4899"/>
              </a:lnSpc>
            </a:pPr>
            <a:r>
              <a:rPr lang="en-US" sz="3499">
                <a:solidFill>
                  <a:srgbClr val="000000"/>
                </a:solidFill>
                <a:latin typeface="Sensei"/>
                <a:ea typeface="Sensei"/>
                <a:cs typeface="Sensei"/>
                <a:sym typeface="Sensei"/>
              </a:rPr>
              <a:t>We are seeking an initial investment between 50,000 and 100,000 EGP. This funding will be used for system development, purchasing devices for vendors, and on-campus marketing. The goal is to launch the product and acquire the first 1,000 users."</a:t>
            </a:r>
          </a:p>
          <a:p>
            <a:pPr algn="l">
              <a:lnSpc>
                <a:spcPts val="4899"/>
              </a:lnSpc>
            </a:pPr>
            <a:r>
              <a:rPr lang="en-US" sz="3499">
                <a:solidFill>
                  <a:srgbClr val="000000"/>
                </a:solidFill>
                <a:latin typeface="Sensei"/>
                <a:ea typeface="Sensei"/>
                <a:cs typeface="Sensei"/>
                <a:sym typeface="Sensei"/>
              </a:rPr>
              <a:t>Funding Breakdown:</a:t>
            </a:r>
          </a:p>
          <a:p>
            <a:pPr marL="755649" lvl="1" indent="-377824" algn="l">
              <a:lnSpc>
                <a:spcPts val="4899"/>
              </a:lnSpc>
              <a:buFont typeface="Arial"/>
              <a:buChar char="•"/>
            </a:pPr>
            <a:r>
              <a:rPr lang="en-US" sz="3499">
                <a:solidFill>
                  <a:srgbClr val="000000"/>
                </a:solidFill>
                <a:latin typeface="Sensei"/>
                <a:ea typeface="Sensei"/>
                <a:cs typeface="Sensei"/>
                <a:sym typeface="Sensei"/>
              </a:rPr>
              <a:t>40% Development</a:t>
            </a:r>
          </a:p>
          <a:p>
            <a:pPr marL="755649" lvl="1" indent="-377824" algn="l">
              <a:lnSpc>
                <a:spcPts val="4899"/>
              </a:lnSpc>
              <a:buFont typeface="Arial"/>
              <a:buChar char="•"/>
            </a:pPr>
            <a:r>
              <a:rPr lang="en-US" sz="3499">
                <a:solidFill>
                  <a:srgbClr val="000000"/>
                </a:solidFill>
                <a:latin typeface="Sensei"/>
                <a:ea typeface="Sensei"/>
                <a:cs typeface="Sensei"/>
                <a:sym typeface="Sensei"/>
              </a:rPr>
              <a:t>30% Hardware</a:t>
            </a:r>
          </a:p>
          <a:p>
            <a:pPr marL="755649" lvl="1" indent="-377824" algn="l">
              <a:lnSpc>
                <a:spcPts val="4899"/>
              </a:lnSpc>
              <a:buFont typeface="Arial"/>
              <a:buChar char="•"/>
            </a:pPr>
            <a:r>
              <a:rPr lang="en-US" sz="3499">
                <a:solidFill>
                  <a:srgbClr val="000000"/>
                </a:solidFill>
                <a:latin typeface="Sensei"/>
                <a:ea typeface="Sensei"/>
                <a:cs typeface="Sensei"/>
                <a:sym typeface="Sensei"/>
              </a:rPr>
              <a:t>30% Marketing</a:t>
            </a:r>
          </a:p>
          <a:p>
            <a:pPr algn="l">
              <a:lnSpc>
                <a:spcPts val="4899"/>
              </a:lnSpc>
            </a:pPr>
            <a:endParaRPr lang="en-US" sz="3499">
              <a:solidFill>
                <a:srgbClr val="000000"/>
              </a:solidFill>
              <a:latin typeface="Sensei"/>
              <a:ea typeface="Sensei"/>
              <a:cs typeface="Sensei"/>
              <a:sym typeface="Sensei"/>
            </a:endParaRPr>
          </a:p>
        </p:txBody>
      </p:sp>
      <p:sp>
        <p:nvSpPr>
          <p:cNvPr id="8" name="Freeform 8"/>
          <p:cNvSpPr/>
          <p:nvPr/>
        </p:nvSpPr>
        <p:spPr>
          <a:xfrm>
            <a:off x="15038080" y="191808"/>
            <a:ext cx="5978033" cy="1614069"/>
          </a:xfrm>
          <a:custGeom>
            <a:avLst/>
            <a:gdLst/>
            <a:ahLst/>
            <a:cxnLst/>
            <a:rect l="l" t="t" r="r" b="b"/>
            <a:pathLst>
              <a:path w="5978033" h="1614069">
                <a:moveTo>
                  <a:pt x="0" y="0"/>
                </a:moveTo>
                <a:lnTo>
                  <a:pt x="5978033" y="0"/>
                </a:lnTo>
                <a:lnTo>
                  <a:pt x="5978033" y="1614068"/>
                </a:lnTo>
                <a:lnTo>
                  <a:pt x="0" y="161406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
        <p:nvSpPr>
          <p:cNvPr id="9" name="Freeform 9"/>
          <p:cNvSpPr/>
          <p:nvPr/>
        </p:nvSpPr>
        <p:spPr>
          <a:xfrm>
            <a:off x="-2989016" y="497600"/>
            <a:ext cx="5978033" cy="1614069"/>
          </a:xfrm>
          <a:custGeom>
            <a:avLst/>
            <a:gdLst/>
            <a:ahLst/>
            <a:cxnLst/>
            <a:rect l="l" t="t" r="r" b="b"/>
            <a:pathLst>
              <a:path w="5978033" h="1614069">
                <a:moveTo>
                  <a:pt x="0" y="0"/>
                </a:moveTo>
                <a:lnTo>
                  <a:pt x="5978032" y="0"/>
                </a:lnTo>
                <a:lnTo>
                  <a:pt x="5978032" y="1614068"/>
                </a:lnTo>
                <a:lnTo>
                  <a:pt x="0" y="1614068"/>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892504" y="9258300"/>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892504" y="7002447"/>
            <a:ext cx="3696272" cy="4291752"/>
          </a:xfrm>
          <a:custGeom>
            <a:avLst/>
            <a:gdLst/>
            <a:ahLst/>
            <a:cxnLst/>
            <a:rect l="l" t="t" r="r" b="b"/>
            <a:pathLst>
              <a:path w="3696272" h="4291752">
                <a:moveTo>
                  <a:pt x="0" y="0"/>
                </a:moveTo>
                <a:lnTo>
                  <a:pt x="3696272" y="0"/>
                </a:lnTo>
                <a:lnTo>
                  <a:pt x="3696272" y="4291752"/>
                </a:lnTo>
                <a:lnTo>
                  <a:pt x="0" y="429175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Freeform 4"/>
          <p:cNvSpPr/>
          <p:nvPr/>
        </p:nvSpPr>
        <p:spPr>
          <a:xfrm flipH="1">
            <a:off x="15485120" y="7112424"/>
            <a:ext cx="3696272" cy="4291752"/>
          </a:xfrm>
          <a:custGeom>
            <a:avLst/>
            <a:gdLst/>
            <a:ahLst/>
            <a:cxnLst/>
            <a:rect l="l" t="t" r="r" b="b"/>
            <a:pathLst>
              <a:path w="3696272" h="4291752">
                <a:moveTo>
                  <a:pt x="3696271" y="0"/>
                </a:moveTo>
                <a:lnTo>
                  <a:pt x="0" y="0"/>
                </a:lnTo>
                <a:lnTo>
                  <a:pt x="0" y="4291752"/>
                </a:lnTo>
                <a:lnTo>
                  <a:pt x="3696271" y="4291752"/>
                </a:lnTo>
                <a:lnTo>
                  <a:pt x="369627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5" name="Freeform 5"/>
          <p:cNvSpPr/>
          <p:nvPr/>
        </p:nvSpPr>
        <p:spPr>
          <a:xfrm>
            <a:off x="5552004" y="390615"/>
            <a:ext cx="6192929" cy="2242357"/>
          </a:xfrm>
          <a:custGeom>
            <a:avLst/>
            <a:gdLst/>
            <a:ahLst/>
            <a:cxnLst/>
            <a:rect l="l" t="t" r="r" b="b"/>
            <a:pathLst>
              <a:path w="6192929" h="2242357">
                <a:moveTo>
                  <a:pt x="0" y="0"/>
                </a:moveTo>
                <a:lnTo>
                  <a:pt x="6192930" y="0"/>
                </a:lnTo>
                <a:lnTo>
                  <a:pt x="6192930" y="2242357"/>
                </a:lnTo>
                <a:lnTo>
                  <a:pt x="0" y="224235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6" name="TextBox 6"/>
          <p:cNvSpPr txBox="1"/>
          <p:nvPr/>
        </p:nvSpPr>
        <p:spPr>
          <a:xfrm>
            <a:off x="5898587" y="1041689"/>
            <a:ext cx="5499765" cy="1064133"/>
          </a:xfrm>
          <a:prstGeom prst="rect">
            <a:avLst/>
          </a:prstGeom>
        </p:spPr>
        <p:txBody>
          <a:bodyPr lIns="0" tIns="0" rIns="0" bIns="0" rtlCol="0" anchor="t">
            <a:spAutoFit/>
          </a:bodyPr>
          <a:lstStyle/>
          <a:p>
            <a:pPr algn="ctr">
              <a:lnSpc>
                <a:spcPts val="7956"/>
              </a:lnSpc>
            </a:pPr>
            <a:r>
              <a:rPr lang="en-US" sz="7800">
                <a:solidFill>
                  <a:srgbClr val="FFFFFF"/>
                </a:solidFill>
                <a:latin typeface="Lilita One"/>
                <a:ea typeface="Lilita One"/>
                <a:cs typeface="Lilita One"/>
                <a:sym typeface="Lilita One"/>
              </a:rPr>
              <a:t>Impact</a:t>
            </a:r>
          </a:p>
        </p:txBody>
      </p:sp>
      <p:sp>
        <p:nvSpPr>
          <p:cNvPr id="7" name="Freeform 7"/>
          <p:cNvSpPr/>
          <p:nvPr/>
        </p:nvSpPr>
        <p:spPr>
          <a:xfrm>
            <a:off x="15038080" y="191808"/>
            <a:ext cx="5978033" cy="1614069"/>
          </a:xfrm>
          <a:custGeom>
            <a:avLst/>
            <a:gdLst/>
            <a:ahLst/>
            <a:cxnLst/>
            <a:rect l="l" t="t" r="r" b="b"/>
            <a:pathLst>
              <a:path w="5978033" h="1614069">
                <a:moveTo>
                  <a:pt x="0" y="0"/>
                </a:moveTo>
                <a:lnTo>
                  <a:pt x="5978033" y="0"/>
                </a:lnTo>
                <a:lnTo>
                  <a:pt x="5978033" y="1614068"/>
                </a:lnTo>
                <a:lnTo>
                  <a:pt x="0" y="16140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8" name="Freeform 8"/>
          <p:cNvSpPr/>
          <p:nvPr/>
        </p:nvSpPr>
        <p:spPr>
          <a:xfrm>
            <a:off x="-2989016" y="497600"/>
            <a:ext cx="5978033" cy="1614069"/>
          </a:xfrm>
          <a:custGeom>
            <a:avLst/>
            <a:gdLst/>
            <a:ahLst/>
            <a:cxnLst/>
            <a:rect l="l" t="t" r="r" b="b"/>
            <a:pathLst>
              <a:path w="5978033" h="1614069">
                <a:moveTo>
                  <a:pt x="0" y="0"/>
                </a:moveTo>
                <a:lnTo>
                  <a:pt x="5978032" y="0"/>
                </a:lnTo>
                <a:lnTo>
                  <a:pt x="5978032" y="1614068"/>
                </a:lnTo>
                <a:lnTo>
                  <a:pt x="0" y="161406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ar-EG"/>
          </a:p>
        </p:txBody>
      </p:sp>
      <p:sp>
        <p:nvSpPr>
          <p:cNvPr id="9" name="TextBox 9"/>
          <p:cNvSpPr txBox="1"/>
          <p:nvPr/>
        </p:nvSpPr>
        <p:spPr>
          <a:xfrm>
            <a:off x="1557273" y="3151335"/>
            <a:ext cx="14182392" cy="5143499"/>
          </a:xfrm>
          <a:prstGeom prst="rect">
            <a:avLst/>
          </a:prstGeom>
        </p:spPr>
        <p:txBody>
          <a:bodyPr lIns="0" tIns="0" rIns="0" bIns="0" rtlCol="0" anchor="t">
            <a:spAutoFit/>
          </a:bodyPr>
          <a:lstStyle/>
          <a:p>
            <a:pPr algn="ctr">
              <a:lnSpc>
                <a:spcPts val="5099"/>
              </a:lnSpc>
              <a:spcBef>
                <a:spcPct val="0"/>
              </a:spcBef>
            </a:pPr>
            <a:r>
              <a:rPr lang="en-US" sz="4999">
                <a:solidFill>
                  <a:srgbClr val="000000"/>
                </a:solidFill>
                <a:latin typeface="Lilita One"/>
                <a:ea typeface="Lilita One"/>
                <a:cs typeface="Lilita One"/>
                <a:sym typeface="Lilita One"/>
              </a:rPr>
              <a:t>Our vision is simple: we want to become the number one campus ordering system in the country. We want to save millions of collective student hours, allowing them to focus on studying and socializing rather than standing in a sweaty line. We want to digitize the entire university dining experience and build a smart campus ecosystem. Join us in making the physical queue a thing of the past. Thank you.</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988915" y="9258300"/>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275987" y="7892142"/>
            <a:ext cx="3064279" cy="2732315"/>
          </a:xfrm>
          <a:custGeom>
            <a:avLst/>
            <a:gdLst/>
            <a:ahLst/>
            <a:cxnLst/>
            <a:rect l="l" t="t" r="r" b="b"/>
            <a:pathLst>
              <a:path w="3064279" h="2732315">
                <a:moveTo>
                  <a:pt x="0" y="0"/>
                </a:moveTo>
                <a:lnTo>
                  <a:pt x="3064279" y="0"/>
                </a:lnTo>
                <a:lnTo>
                  <a:pt x="3064279" y="2732316"/>
                </a:lnTo>
                <a:lnTo>
                  <a:pt x="0" y="273231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Freeform 4"/>
          <p:cNvSpPr/>
          <p:nvPr/>
        </p:nvSpPr>
        <p:spPr>
          <a:xfrm flipH="1">
            <a:off x="15511649" y="7892142"/>
            <a:ext cx="3064279" cy="2732315"/>
          </a:xfrm>
          <a:custGeom>
            <a:avLst/>
            <a:gdLst/>
            <a:ahLst/>
            <a:cxnLst/>
            <a:rect l="l" t="t" r="r" b="b"/>
            <a:pathLst>
              <a:path w="3064279" h="2732315">
                <a:moveTo>
                  <a:pt x="3064279" y="0"/>
                </a:moveTo>
                <a:lnTo>
                  <a:pt x="0" y="0"/>
                </a:lnTo>
                <a:lnTo>
                  <a:pt x="0" y="2732316"/>
                </a:lnTo>
                <a:lnTo>
                  <a:pt x="3064279" y="2732316"/>
                </a:lnTo>
                <a:lnTo>
                  <a:pt x="3064279"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5" name="Freeform 5"/>
          <p:cNvSpPr/>
          <p:nvPr/>
        </p:nvSpPr>
        <p:spPr>
          <a:xfrm>
            <a:off x="15038080" y="191808"/>
            <a:ext cx="5978033" cy="1614069"/>
          </a:xfrm>
          <a:custGeom>
            <a:avLst/>
            <a:gdLst/>
            <a:ahLst/>
            <a:cxnLst/>
            <a:rect l="l" t="t" r="r" b="b"/>
            <a:pathLst>
              <a:path w="5978033" h="1614069">
                <a:moveTo>
                  <a:pt x="0" y="0"/>
                </a:moveTo>
                <a:lnTo>
                  <a:pt x="5978033" y="0"/>
                </a:lnTo>
                <a:lnTo>
                  <a:pt x="5978033" y="1614068"/>
                </a:lnTo>
                <a:lnTo>
                  <a:pt x="0" y="1614068"/>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sp>
        <p:nvSpPr>
          <p:cNvPr id="6" name="Freeform 6"/>
          <p:cNvSpPr/>
          <p:nvPr/>
        </p:nvSpPr>
        <p:spPr>
          <a:xfrm>
            <a:off x="-3977931" y="1028700"/>
            <a:ext cx="5978033" cy="1614069"/>
          </a:xfrm>
          <a:custGeom>
            <a:avLst/>
            <a:gdLst/>
            <a:ahLst/>
            <a:cxnLst/>
            <a:rect l="l" t="t" r="r" b="b"/>
            <a:pathLst>
              <a:path w="5978033" h="1614069">
                <a:moveTo>
                  <a:pt x="0" y="0"/>
                </a:moveTo>
                <a:lnTo>
                  <a:pt x="5978033" y="0"/>
                </a:lnTo>
                <a:lnTo>
                  <a:pt x="5978033" y="1614069"/>
                </a:lnTo>
                <a:lnTo>
                  <a:pt x="0" y="1614069"/>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graphicFrame>
        <p:nvGraphicFramePr>
          <p:cNvPr id="7" name="Object 7"/>
          <p:cNvGraphicFramePr/>
          <p:nvPr/>
        </p:nvGraphicFramePr>
        <p:xfrm>
          <a:off x="5672819" y="4672012"/>
          <a:ext cx="6942361" cy="942975"/>
        </p:xfrm>
        <a:graphic>
          <a:graphicData uri="http://schemas.openxmlformats.org/presentationml/2006/ole">
            <mc:AlternateContent xmlns:mc="http://schemas.openxmlformats.org/markup-compatibility/2006">
              <mc:Choice xmlns:v="urn:schemas-microsoft-com:vml" Requires="v">
                <p:oleObj name="Worksheet" r:id="rId5" imgW="8331200" imgH="2324100" progId="Excel.Sheet.12">
                  <p:embed/>
                </p:oleObj>
              </mc:Choice>
              <mc:Fallback>
                <p:oleObj name="Worksheet" r:id="rId5" imgW="8331200" imgH="2324100" progId="Excel.Sheet.12">
                  <p:embed/>
                  <p:pic>
                    <p:nvPicPr>
                      <p:cNvPr id="7" name="Object 7"/>
                      <p:cNvPicPr/>
                      <p:nvPr/>
                    </p:nvPicPr>
                    <p:blipFill>
                      <a:blip r:embed="rId6"/>
                      <a:stretch>
                        <a:fillRect/>
                      </a:stretch>
                    </p:blipFill>
                    <p:spPr>
                      <a:xfrm>
                        <a:off x="5672819" y="4672012"/>
                        <a:ext cx="6942361" cy="942975"/>
                      </a:xfrm>
                      <a:prstGeom prst="rect">
                        <a:avLst/>
                      </a:prstGeom>
                    </p:spPr>
                  </p:pic>
                </p:oleObj>
              </mc:Fallback>
            </mc:AlternateContent>
          </a:graphicData>
        </a:graphic>
      </p:graphicFrame>
      <p:graphicFrame>
        <p:nvGraphicFramePr>
          <p:cNvPr id="8" name="Object 8"/>
          <p:cNvGraphicFramePr/>
          <p:nvPr>
            <p:extLst>
              <p:ext uri="{D42A27DB-BD31-4B8C-83A1-F6EECF244321}">
                <p14:modId xmlns:p14="http://schemas.microsoft.com/office/powerpoint/2010/main" val="999045561"/>
              </p:ext>
            </p:extLst>
          </p:nvPr>
        </p:nvGraphicFramePr>
        <p:xfrm>
          <a:off x="1219200" y="4008927"/>
          <a:ext cx="17068800" cy="7715191"/>
        </p:xfrm>
        <a:graphic>
          <a:graphicData uri="http://schemas.openxmlformats.org/presentationml/2006/ole">
            <mc:AlternateContent xmlns:mc="http://schemas.openxmlformats.org/markup-compatibility/2006">
              <mc:Choice xmlns:v="urn:schemas-microsoft-com:vml" Requires="v">
                <p:oleObj name="Worksheet" r:id="rId7" imgW="16649700" imgH="8521700" progId="Excel.Sheet.12">
                  <p:embed/>
                </p:oleObj>
              </mc:Choice>
              <mc:Fallback>
                <p:oleObj name="Worksheet" r:id="rId7" imgW="16649700" imgH="8521700" progId="Excel.Sheet.12">
                  <p:embed/>
                  <p:pic>
                    <p:nvPicPr>
                      <p:cNvPr id="8" name="Object 8"/>
                      <p:cNvPicPr/>
                      <p:nvPr/>
                    </p:nvPicPr>
                    <p:blipFill>
                      <a:blip r:embed="rId8"/>
                      <a:stretch>
                        <a:fillRect/>
                      </a:stretch>
                    </p:blipFill>
                    <p:spPr>
                      <a:xfrm>
                        <a:off x="1219200" y="4008927"/>
                        <a:ext cx="17068800" cy="7715191"/>
                      </a:xfrm>
                      <a:prstGeom prst="rect">
                        <a:avLst/>
                      </a:prstGeom>
                    </p:spPr>
                  </p:pic>
                </p:oleObj>
              </mc:Fallback>
            </mc:AlternateContent>
          </a:graphicData>
        </a:graphic>
      </p:graphicFrame>
      <p:sp>
        <p:nvSpPr>
          <p:cNvPr id="9" name="TextBox 9"/>
          <p:cNvSpPr txBox="1"/>
          <p:nvPr/>
        </p:nvSpPr>
        <p:spPr>
          <a:xfrm>
            <a:off x="5361227" y="666236"/>
            <a:ext cx="7565545" cy="1052210"/>
          </a:xfrm>
          <a:prstGeom prst="rect">
            <a:avLst/>
          </a:prstGeom>
        </p:spPr>
        <p:txBody>
          <a:bodyPr lIns="0" tIns="0" rIns="0" bIns="0" rtlCol="0" anchor="t">
            <a:spAutoFit/>
          </a:bodyPr>
          <a:lstStyle/>
          <a:p>
            <a:pPr algn="ctr">
              <a:lnSpc>
                <a:spcPts val="7932"/>
              </a:lnSpc>
            </a:pPr>
            <a:r>
              <a:rPr lang="en-US" sz="7776">
                <a:solidFill>
                  <a:srgbClr val="000000"/>
                </a:solidFill>
                <a:latin typeface="Lilita One"/>
                <a:ea typeface="Lilita One"/>
                <a:cs typeface="Lilita One"/>
                <a:sym typeface="Lilita One"/>
              </a:rPr>
              <a:t>Thank You</a:t>
            </a:r>
          </a:p>
        </p:txBody>
      </p:sp>
      <p:sp>
        <p:nvSpPr>
          <p:cNvPr id="10" name="TextBox 10"/>
          <p:cNvSpPr txBox="1"/>
          <p:nvPr/>
        </p:nvSpPr>
        <p:spPr>
          <a:xfrm>
            <a:off x="1611542" y="2598610"/>
            <a:ext cx="14907535" cy="2509978"/>
          </a:xfrm>
          <a:prstGeom prst="rect">
            <a:avLst/>
          </a:prstGeom>
        </p:spPr>
        <p:txBody>
          <a:bodyPr lIns="0" tIns="0" rIns="0" bIns="0" rtlCol="0" anchor="t">
            <a:spAutoFit/>
          </a:bodyPr>
          <a:lstStyle/>
          <a:p>
            <a:pPr algn="l">
              <a:lnSpc>
                <a:spcPts val="3298"/>
              </a:lnSpc>
              <a:spcBef>
                <a:spcPct val="0"/>
              </a:spcBef>
            </a:pPr>
            <a:r>
              <a:rPr lang="en-US" sz="3234">
                <a:solidFill>
                  <a:srgbClr val="000000"/>
                </a:solidFill>
                <a:latin typeface="Lilita One"/>
                <a:ea typeface="Lilita One"/>
                <a:cs typeface="Lilita One"/>
                <a:sym typeface="Lilita One"/>
              </a:rPr>
              <a:t>We would like to sincerely thank Dr. Soha Safwat and Dr. Ahmed Mahran for their valuable support and great efforts throughout our project.</a:t>
            </a:r>
          </a:p>
          <a:p>
            <a:pPr algn="l">
              <a:lnSpc>
                <a:spcPts val="3298"/>
              </a:lnSpc>
              <a:spcBef>
                <a:spcPct val="0"/>
              </a:spcBef>
            </a:pPr>
            <a:r>
              <a:rPr lang="en-US" sz="3234">
                <a:solidFill>
                  <a:srgbClr val="000000"/>
                </a:solidFill>
                <a:latin typeface="Lilita One"/>
                <a:ea typeface="Lilita One"/>
                <a:cs typeface="Lilita One"/>
                <a:sym typeface="Lilita One"/>
              </a:rPr>
              <a:t>Your guidance and encouragement meant a lot to us and truly made a significant difference.</a:t>
            </a:r>
          </a:p>
          <a:p>
            <a:pPr algn="l">
              <a:lnSpc>
                <a:spcPts val="3298"/>
              </a:lnSpc>
              <a:spcBef>
                <a:spcPct val="0"/>
              </a:spcBef>
            </a:pPr>
            <a:r>
              <a:rPr lang="en-US" sz="3234">
                <a:solidFill>
                  <a:srgbClr val="000000"/>
                </a:solidFill>
                <a:latin typeface="Lilita One"/>
                <a:ea typeface="Lilita One"/>
                <a:cs typeface="Lilita One"/>
                <a:sym typeface="Lilita One"/>
              </a:rPr>
              <a:t> </a:t>
            </a:r>
          </a:p>
          <a:p>
            <a:pPr algn="l">
              <a:lnSpc>
                <a:spcPts val="3298"/>
              </a:lnSpc>
              <a:spcBef>
                <a:spcPct val="0"/>
              </a:spcBef>
            </a:pPr>
            <a:r>
              <a:rPr lang="en-US" sz="3234">
                <a:solidFill>
                  <a:srgbClr val="000000"/>
                </a:solidFill>
                <a:latin typeface="Lilita One"/>
                <a:ea typeface="Lilita One"/>
                <a:cs typeface="Lilita One"/>
                <a:sym typeface="Lilita One"/>
              </a:rPr>
              <a:t>OUR TEAM:</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DFDBD"/>
        </a:solidFill>
        <a:effectLst/>
      </p:bgPr>
    </p:bg>
    <p:spTree>
      <p:nvGrpSpPr>
        <p:cNvPr id="1" name=""/>
        <p:cNvGrpSpPr/>
        <p:nvPr/>
      </p:nvGrpSpPr>
      <p:grpSpPr>
        <a:xfrm>
          <a:off x="0" y="0"/>
          <a:ext cx="0" cy="0"/>
          <a:chOff x="0" y="0"/>
          <a:chExt cx="0" cy="0"/>
        </a:xfrm>
      </p:grpSpPr>
      <p:sp>
        <p:nvSpPr>
          <p:cNvPr id="2" name="Freeform 2"/>
          <p:cNvSpPr/>
          <p:nvPr/>
        </p:nvSpPr>
        <p:spPr>
          <a:xfrm>
            <a:off x="679059" y="187251"/>
            <a:ext cx="5272722" cy="4607041"/>
          </a:xfrm>
          <a:custGeom>
            <a:avLst/>
            <a:gdLst/>
            <a:ahLst/>
            <a:cxnLst/>
            <a:rect l="l" t="t" r="r" b="b"/>
            <a:pathLst>
              <a:path w="5272722" h="4607041">
                <a:moveTo>
                  <a:pt x="0" y="0"/>
                </a:moveTo>
                <a:lnTo>
                  <a:pt x="5272722" y="0"/>
                </a:lnTo>
                <a:lnTo>
                  <a:pt x="5272722" y="4607041"/>
                </a:lnTo>
                <a:lnTo>
                  <a:pt x="0" y="460704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ar-EG"/>
          </a:p>
        </p:txBody>
      </p:sp>
      <p:sp>
        <p:nvSpPr>
          <p:cNvPr id="3" name="Freeform 3"/>
          <p:cNvSpPr/>
          <p:nvPr/>
        </p:nvSpPr>
        <p:spPr>
          <a:xfrm>
            <a:off x="-1122265" y="8982975"/>
            <a:ext cx="20532529" cy="4078770"/>
          </a:xfrm>
          <a:custGeom>
            <a:avLst/>
            <a:gdLst/>
            <a:ahLst/>
            <a:cxnLst/>
            <a:rect l="l" t="t" r="r" b="b"/>
            <a:pathLst>
              <a:path w="20532529" h="4078770">
                <a:moveTo>
                  <a:pt x="0" y="0"/>
                </a:moveTo>
                <a:lnTo>
                  <a:pt x="20532530" y="0"/>
                </a:lnTo>
                <a:lnTo>
                  <a:pt x="20532530" y="4078770"/>
                </a:lnTo>
                <a:lnTo>
                  <a:pt x="0" y="4078770"/>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ar-EG"/>
          </a:p>
        </p:txBody>
      </p:sp>
      <p:sp>
        <p:nvSpPr>
          <p:cNvPr id="4" name="Freeform 4"/>
          <p:cNvSpPr/>
          <p:nvPr/>
        </p:nvSpPr>
        <p:spPr>
          <a:xfrm>
            <a:off x="13178501" y="360117"/>
            <a:ext cx="6913150" cy="1866550"/>
          </a:xfrm>
          <a:custGeom>
            <a:avLst/>
            <a:gdLst/>
            <a:ahLst/>
            <a:cxnLst/>
            <a:rect l="l" t="t" r="r" b="b"/>
            <a:pathLst>
              <a:path w="6913150" h="1866550">
                <a:moveTo>
                  <a:pt x="0" y="0"/>
                </a:moveTo>
                <a:lnTo>
                  <a:pt x="6913150" y="0"/>
                </a:lnTo>
                <a:lnTo>
                  <a:pt x="6913150" y="1866550"/>
                </a:lnTo>
                <a:lnTo>
                  <a:pt x="0" y="1866550"/>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ar-EG"/>
          </a:p>
        </p:txBody>
      </p:sp>
      <p:grpSp>
        <p:nvGrpSpPr>
          <p:cNvPr id="5" name="Group 5"/>
          <p:cNvGrpSpPr/>
          <p:nvPr/>
        </p:nvGrpSpPr>
        <p:grpSpPr>
          <a:xfrm>
            <a:off x="8100569" y="508344"/>
            <a:ext cx="7088955" cy="8749956"/>
            <a:chOff x="0" y="0"/>
            <a:chExt cx="812800" cy="1003246"/>
          </a:xfrm>
        </p:grpSpPr>
        <p:sp>
          <p:nvSpPr>
            <p:cNvPr id="6" name="Freeform 6"/>
            <p:cNvSpPr/>
            <p:nvPr/>
          </p:nvSpPr>
          <p:spPr>
            <a:xfrm>
              <a:off x="0" y="0"/>
              <a:ext cx="812800" cy="1003246"/>
            </a:xfrm>
            <a:custGeom>
              <a:avLst/>
              <a:gdLst/>
              <a:ahLst/>
              <a:cxnLst/>
              <a:rect l="l" t="t" r="r" b="b"/>
              <a:pathLst>
                <a:path w="812800" h="1003246">
                  <a:moveTo>
                    <a:pt x="25119" y="0"/>
                  </a:moveTo>
                  <a:lnTo>
                    <a:pt x="787681" y="0"/>
                  </a:lnTo>
                  <a:cubicBezTo>
                    <a:pt x="794343" y="0"/>
                    <a:pt x="800732" y="2646"/>
                    <a:pt x="805443" y="7357"/>
                  </a:cubicBezTo>
                  <a:cubicBezTo>
                    <a:pt x="810154" y="12068"/>
                    <a:pt x="812800" y="18457"/>
                    <a:pt x="812800" y="25119"/>
                  </a:cubicBezTo>
                  <a:lnTo>
                    <a:pt x="812800" y="978127"/>
                  </a:lnTo>
                  <a:cubicBezTo>
                    <a:pt x="812800" y="984789"/>
                    <a:pt x="810154" y="991178"/>
                    <a:pt x="805443" y="995889"/>
                  </a:cubicBezTo>
                  <a:cubicBezTo>
                    <a:pt x="800732" y="1000599"/>
                    <a:pt x="794343" y="1003246"/>
                    <a:pt x="787681" y="1003246"/>
                  </a:cubicBezTo>
                  <a:lnTo>
                    <a:pt x="25119" y="1003246"/>
                  </a:lnTo>
                  <a:cubicBezTo>
                    <a:pt x="18457" y="1003246"/>
                    <a:pt x="12068" y="1000599"/>
                    <a:pt x="7357" y="995889"/>
                  </a:cubicBezTo>
                  <a:cubicBezTo>
                    <a:pt x="2646" y="991178"/>
                    <a:pt x="0" y="984789"/>
                    <a:pt x="0" y="978127"/>
                  </a:cubicBezTo>
                  <a:lnTo>
                    <a:pt x="0" y="25119"/>
                  </a:lnTo>
                  <a:cubicBezTo>
                    <a:pt x="0" y="18457"/>
                    <a:pt x="2646" y="12068"/>
                    <a:pt x="7357" y="7357"/>
                  </a:cubicBezTo>
                  <a:cubicBezTo>
                    <a:pt x="12068" y="2646"/>
                    <a:pt x="18457" y="0"/>
                    <a:pt x="25119" y="0"/>
                  </a:cubicBezTo>
                  <a:close/>
                </a:path>
              </a:pathLst>
            </a:custGeom>
            <a:blipFill>
              <a:blip r:embed="rId5"/>
              <a:stretch>
                <a:fillRect l="-663" t="-1925" r="-4228"/>
              </a:stretch>
            </a:blipFill>
          </p:spPr>
          <p:txBody>
            <a:bodyPr/>
            <a:lstStyle/>
            <a:p>
              <a:endParaRPr lang="ar-EG"/>
            </a:p>
          </p:txBody>
        </p:sp>
      </p:grpSp>
      <p:sp>
        <p:nvSpPr>
          <p:cNvPr id="7" name="TextBox 7"/>
          <p:cNvSpPr txBox="1"/>
          <p:nvPr/>
        </p:nvSpPr>
        <p:spPr>
          <a:xfrm>
            <a:off x="1060475" y="3347246"/>
            <a:ext cx="4509889" cy="1521635"/>
          </a:xfrm>
          <a:prstGeom prst="rect">
            <a:avLst/>
          </a:prstGeom>
        </p:spPr>
        <p:txBody>
          <a:bodyPr lIns="0" tIns="0" rIns="0" bIns="0" rtlCol="0" anchor="t">
            <a:spAutoFit/>
          </a:bodyPr>
          <a:lstStyle/>
          <a:p>
            <a:pPr algn="ctr">
              <a:lnSpc>
                <a:spcPts val="5834"/>
              </a:lnSpc>
            </a:pPr>
            <a:r>
              <a:rPr lang="en-US" sz="5719" b="1" dirty="0">
                <a:solidFill>
                  <a:srgbClr val="FFFFFF"/>
                </a:solidFill>
                <a:latin typeface="DG Ghayaty Bold"/>
                <a:ea typeface="DG Ghayaty Bold"/>
                <a:cs typeface="DG Ghayaty Bold"/>
                <a:sym typeface="DG Ghayaty Bold"/>
              </a:rPr>
              <a:t>Get Your Offer </a:t>
            </a:r>
          </a:p>
        </p:txBody>
      </p:sp>
      <p:sp>
        <p:nvSpPr>
          <p:cNvPr id="8" name="TextBox 8"/>
          <p:cNvSpPr txBox="1"/>
          <p:nvPr/>
        </p:nvSpPr>
        <p:spPr>
          <a:xfrm>
            <a:off x="1143000" y="1552559"/>
            <a:ext cx="4509889" cy="1410643"/>
          </a:xfrm>
          <a:prstGeom prst="rect">
            <a:avLst/>
          </a:prstGeom>
        </p:spPr>
        <p:txBody>
          <a:bodyPr lIns="0" tIns="0" rIns="0" bIns="0" rtlCol="0" anchor="t">
            <a:spAutoFit/>
          </a:bodyPr>
          <a:lstStyle/>
          <a:p>
            <a:pPr algn="ctr">
              <a:lnSpc>
                <a:spcPts val="5528"/>
              </a:lnSpc>
            </a:pPr>
            <a:r>
              <a:rPr lang="en-US" sz="4000" b="1" dirty="0">
                <a:solidFill>
                  <a:srgbClr val="FFFFFF"/>
                </a:solidFill>
                <a:latin typeface="DG Ghayaty Bold"/>
                <a:ea typeface="DG Ghayaty Bold"/>
                <a:cs typeface="DG Ghayaty Bold"/>
                <a:sym typeface="DG Ghayaty Bold"/>
              </a:rPr>
              <a:t>Your Feedback </a:t>
            </a:r>
          </a:p>
          <a:p>
            <a:pPr algn="ctr">
              <a:lnSpc>
                <a:spcPts val="5528"/>
              </a:lnSpc>
            </a:pPr>
            <a:r>
              <a:rPr lang="en-US" sz="4000" b="1" dirty="0">
                <a:solidFill>
                  <a:srgbClr val="FFFFFF"/>
                </a:solidFill>
                <a:latin typeface="DG Sahabh Bold"/>
                <a:ea typeface="DG Sahabh Bold"/>
                <a:cs typeface="DG Sahabh Bold"/>
                <a:sym typeface="DG Sahabh Bold"/>
              </a:rPr>
              <a:t>Helps Us Improve</a:t>
            </a:r>
          </a:p>
        </p:txBody>
      </p:sp>
      <p:sp>
        <p:nvSpPr>
          <p:cNvPr id="9" name="Freeform 9"/>
          <p:cNvSpPr/>
          <p:nvPr/>
        </p:nvSpPr>
        <p:spPr>
          <a:xfrm>
            <a:off x="-61206" y="6971413"/>
            <a:ext cx="5631571" cy="3315587"/>
          </a:xfrm>
          <a:custGeom>
            <a:avLst/>
            <a:gdLst/>
            <a:ahLst/>
            <a:cxnLst/>
            <a:rect l="l" t="t" r="r" b="b"/>
            <a:pathLst>
              <a:path w="5631571" h="3315587">
                <a:moveTo>
                  <a:pt x="0" y="0"/>
                </a:moveTo>
                <a:lnTo>
                  <a:pt x="5631571" y="0"/>
                </a:lnTo>
                <a:lnTo>
                  <a:pt x="5631571" y="3315587"/>
                </a:lnTo>
                <a:lnTo>
                  <a:pt x="0" y="3315587"/>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ar-EG"/>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812</Words>
  <Application>Microsoft Office PowerPoint</Application>
  <PresentationFormat>Custom</PresentationFormat>
  <Paragraphs>46</Paragraphs>
  <Slides>13</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13</vt:i4>
      </vt:variant>
    </vt:vector>
  </HeadingPairs>
  <TitlesOfParts>
    <vt:vector size="21" baseType="lpstr">
      <vt:lpstr>Arial</vt:lpstr>
      <vt:lpstr>DG Ghayaty Bold</vt:lpstr>
      <vt:lpstr>DG Sahabh Bold</vt:lpstr>
      <vt:lpstr>Lilita One</vt:lpstr>
      <vt:lpstr>Sensei</vt:lpstr>
      <vt:lpstr>Calibri</vt:lpstr>
      <vt:lpstr>Office Theme</vt:lpstr>
      <vt:lpstr>Worksheet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Food Truck Concept Presentation</dc:title>
  <dc:creator>noura maher</dc:creator>
  <cp:lastModifiedBy>noura maher</cp:lastModifiedBy>
  <cp:revision>2</cp:revision>
  <dcterms:created xsi:type="dcterms:W3CDTF">2006-08-16T00:00:00Z</dcterms:created>
  <dcterms:modified xsi:type="dcterms:W3CDTF">2026-05-08T23:54:28Z</dcterms:modified>
  <dc:identifier>DAHHK9k5QjM</dc:identifier>
</cp:coreProperties>
</file>