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29LT Riwaya" panose="020B0604020202020204" charset="-78"/>
      <p:regular r:id="rId10"/>
    </p:embeddedFont>
    <p:embeddedFont>
      <p:font typeface="29LT Riwaya Bold" panose="020B0604020202020204" charset="-78"/>
      <p:regular r:id="rId11"/>
    </p:embeddedFont>
    <p:embeddedFont>
      <p:font typeface="Amiri" panose="020B0604020202020204" charset="-78"/>
      <p:regular r:id="rId12"/>
    </p:embeddedFont>
    <p:embeddedFont>
      <p:font typeface="Bukhari Script" panose="020B0604020202020204" charset="0"/>
      <p:regular r:id="rId13"/>
    </p:embeddedFont>
    <p:embeddedFont>
      <p:font typeface="Genty" panose="020B0604020202020204" charset="0"/>
      <p:regular r:id="rId14"/>
    </p:embeddedFont>
    <p:embeddedFont>
      <p:font typeface="Ubuntu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10" d="100"/>
          <a:sy n="10" d="100"/>
        </p:scale>
        <p:origin x="3250" y="15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5666" y="-4262273"/>
            <a:ext cx="11882641" cy="1188264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-989966" y="8271367"/>
            <a:ext cx="3020108" cy="3020108"/>
            <a:chOff x="0" y="0"/>
            <a:chExt cx="2787650" cy="2787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589358" y="-529716"/>
            <a:ext cx="2098262" cy="2098262"/>
            <a:chOff x="0" y="0"/>
            <a:chExt cx="2787650" cy="2787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481524" y="1048703"/>
            <a:ext cx="815293" cy="345783"/>
            <a:chOff x="0" y="0"/>
            <a:chExt cx="2527300" cy="1071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481524" y="1333265"/>
            <a:ext cx="815293" cy="345783"/>
            <a:chOff x="0" y="0"/>
            <a:chExt cx="2527300" cy="1071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6444007" y="2479561"/>
            <a:ext cx="815293" cy="345783"/>
            <a:chOff x="0" y="0"/>
            <a:chExt cx="2527300" cy="1071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6444007" y="2764123"/>
            <a:ext cx="815293" cy="345783"/>
            <a:chOff x="0" y="0"/>
            <a:chExt cx="2527300" cy="1071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72915" y="5143500"/>
            <a:ext cx="815293" cy="345783"/>
            <a:chOff x="0" y="0"/>
            <a:chExt cx="2527300" cy="1071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172915" y="5428061"/>
            <a:ext cx="815293" cy="345783"/>
            <a:chOff x="0" y="0"/>
            <a:chExt cx="2527300" cy="10718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20" name="Freeform 20"/>
          <p:cNvSpPr/>
          <p:nvPr/>
        </p:nvSpPr>
        <p:spPr>
          <a:xfrm>
            <a:off x="-4508266" y="868591"/>
            <a:ext cx="13088827" cy="8229600"/>
          </a:xfrm>
          <a:custGeom>
            <a:avLst/>
            <a:gdLst/>
            <a:ahLst/>
            <a:cxnLst/>
            <a:rect l="l" t="t" r="r" b="b"/>
            <a:pathLst>
              <a:path w="13088827" h="8229600">
                <a:moveTo>
                  <a:pt x="0" y="0"/>
                </a:moveTo>
                <a:lnTo>
                  <a:pt x="13088827" y="0"/>
                </a:lnTo>
                <a:lnTo>
                  <a:pt x="130888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1" name="TextBox 21"/>
          <p:cNvSpPr txBox="1"/>
          <p:nvPr/>
        </p:nvSpPr>
        <p:spPr>
          <a:xfrm>
            <a:off x="9067800" y="2272121"/>
            <a:ext cx="8662319" cy="367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9229">
                <a:solidFill>
                  <a:srgbClr val="FFC85A"/>
                </a:solidFill>
                <a:latin typeface="Genty"/>
                <a:ea typeface="Genty"/>
                <a:cs typeface="Genty"/>
                <a:sym typeface="Genty"/>
              </a:rPr>
              <a:t>Dalla3 Kershak University Food 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7103" y="8200271"/>
            <a:ext cx="5946855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DF6E5"/>
                </a:solidFill>
                <a:latin typeface="Amiri"/>
                <a:ea typeface="Amiri"/>
                <a:cs typeface="Amiri"/>
                <a:sym typeface="Amiri"/>
              </a:rPr>
              <a:t>Dr: Ahmed Mahran                                                                  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DF6E5"/>
                </a:solidFill>
                <a:latin typeface="Amiri"/>
                <a:ea typeface="Amiri"/>
                <a:cs typeface="Amiri"/>
                <a:sym typeface="Amiri"/>
              </a:rPr>
              <a:t>Code: AHU20XX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DF6E5"/>
                </a:solidFill>
                <a:latin typeface="Amiri"/>
                <a:ea typeface="Amiri"/>
                <a:cs typeface="Amiri"/>
                <a:sym typeface="Amiri"/>
              </a:rPr>
              <a:t>Prepared by: Team Masterpiece   </a:t>
            </a:r>
          </a:p>
        </p:txBody>
      </p:sp>
      <p:sp>
        <p:nvSpPr>
          <p:cNvPr id="23" name="Freeform 23"/>
          <p:cNvSpPr/>
          <p:nvPr/>
        </p:nvSpPr>
        <p:spPr>
          <a:xfrm flipH="1">
            <a:off x="14840362" y="5704034"/>
            <a:ext cx="6895275" cy="7108531"/>
          </a:xfrm>
          <a:custGeom>
            <a:avLst/>
            <a:gdLst/>
            <a:ahLst/>
            <a:cxnLst/>
            <a:rect l="l" t="t" r="r" b="b"/>
            <a:pathLst>
              <a:path w="6895275" h="7108531">
                <a:moveTo>
                  <a:pt x="6895276" y="0"/>
                </a:moveTo>
                <a:lnTo>
                  <a:pt x="0" y="0"/>
                </a:lnTo>
                <a:lnTo>
                  <a:pt x="0" y="7108532"/>
                </a:lnTo>
                <a:lnTo>
                  <a:pt x="6895276" y="7108532"/>
                </a:lnTo>
                <a:lnTo>
                  <a:pt x="68952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4" name="TextBox 24"/>
          <p:cNvSpPr txBox="1"/>
          <p:nvPr/>
        </p:nvSpPr>
        <p:spPr>
          <a:xfrm>
            <a:off x="8988208" y="5888674"/>
            <a:ext cx="81915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DF6E5"/>
                </a:solidFill>
                <a:latin typeface="Amiri"/>
                <a:ea typeface="Amiri"/>
                <a:cs typeface="Amiri"/>
                <a:sym typeface="Amiri"/>
              </a:rPr>
              <a:t>University Food Ordering Platform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DF6E5"/>
                </a:solidFill>
                <a:latin typeface="Amiri"/>
                <a:ea typeface="Amiri"/>
                <a:cs typeface="Amiri"/>
                <a:sym typeface="Amiri"/>
              </a:rPr>
              <a:t>Modernizing the Campus Dining Experience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71915" y="4897984"/>
            <a:ext cx="10778031" cy="107780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00851" y="952500"/>
            <a:ext cx="14256165" cy="197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04"/>
              </a:lnSpc>
            </a:pPr>
            <a:r>
              <a:rPr lang="en-US" sz="12464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1. 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0851" y="3157530"/>
            <a:ext cx="8677628" cy="654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University students usually have only 10–15 minutes between lectures.</a:t>
            </a:r>
          </a:p>
          <a:p>
            <a:pPr algn="l">
              <a:lnSpc>
                <a:spcPts val="4000"/>
              </a:lnSpc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During this short break, they face: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Long queues at cafeterias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Overcrowded food areas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Wrong orders due to pressure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Wasting time waiting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Missing meals</a:t>
            </a:r>
          </a:p>
          <a:p>
            <a:pPr marL="616986" lvl="1" indent="-308493" algn="l">
              <a:lnSpc>
                <a:spcPts val="4000"/>
              </a:lnSpc>
              <a:buFont typeface="Arial"/>
              <a:buChar char="•"/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Being late for lectures</a:t>
            </a:r>
          </a:p>
          <a:p>
            <a:pPr algn="l">
              <a:lnSpc>
                <a:spcPts val="4000"/>
              </a:lnSpc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Real Story:</a:t>
            </a:r>
          </a:p>
          <a:p>
            <a:pPr algn="l">
              <a:lnSpc>
                <a:spcPts val="4000"/>
              </a:lnSpc>
            </a:pPr>
            <a:r>
              <a:rPr lang="en-US" sz="28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Many students spend their entire break waiting in line, then either skip food or arrive late to class.</a:t>
            </a:r>
          </a:p>
          <a:p>
            <a:pPr algn="l">
              <a:lnSpc>
                <a:spcPts val="4000"/>
              </a:lnSpc>
              <a:spcBef>
                <a:spcPct val="0"/>
              </a:spcBef>
            </a:pPr>
            <a:endParaRPr lang="en-US" sz="2857" b="1">
              <a:solidFill>
                <a:srgbClr val="FFFFFF"/>
              </a:solidFill>
              <a:latin typeface="29LT Riwaya Bold"/>
              <a:ea typeface="29LT Riwaya Bold"/>
              <a:cs typeface="29LT Riwaya Bold"/>
              <a:sym typeface="29LT Riwaya Bold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589358" y="-529716"/>
            <a:ext cx="2098262" cy="2098262"/>
            <a:chOff x="0" y="0"/>
            <a:chExt cx="2787650" cy="2787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907728" y="2442055"/>
            <a:ext cx="815293" cy="345783"/>
            <a:chOff x="0" y="0"/>
            <a:chExt cx="2527300" cy="1071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907728" y="2726617"/>
            <a:ext cx="815293" cy="345783"/>
            <a:chOff x="0" y="0"/>
            <a:chExt cx="2527300" cy="1071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6851653" y="2584336"/>
            <a:ext cx="815293" cy="345783"/>
            <a:chOff x="0" y="0"/>
            <a:chExt cx="2527300" cy="1071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6851653" y="2868898"/>
            <a:ext cx="815293" cy="345783"/>
            <a:chOff x="0" y="0"/>
            <a:chExt cx="2527300" cy="1071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693155" y="1117203"/>
            <a:ext cx="902686" cy="902686"/>
            <a:chOff x="0" y="0"/>
            <a:chExt cx="2787650" cy="27876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5085236" y="3214680"/>
            <a:ext cx="471780" cy="471780"/>
            <a:chOff x="0" y="0"/>
            <a:chExt cx="2787650" cy="2787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9803552" y="3633780"/>
            <a:ext cx="7779206" cy="6641497"/>
          </a:xfrm>
          <a:custGeom>
            <a:avLst/>
            <a:gdLst/>
            <a:ahLst/>
            <a:cxnLst/>
            <a:rect l="l" t="t" r="r" b="b"/>
            <a:pathLst>
              <a:path w="7779206" h="6641497">
                <a:moveTo>
                  <a:pt x="7779206" y="0"/>
                </a:moveTo>
                <a:lnTo>
                  <a:pt x="0" y="0"/>
                </a:lnTo>
                <a:lnTo>
                  <a:pt x="0" y="6641498"/>
                </a:lnTo>
                <a:lnTo>
                  <a:pt x="7779206" y="6641498"/>
                </a:lnTo>
                <a:lnTo>
                  <a:pt x="77792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6540" y="8194852"/>
            <a:ext cx="9750789" cy="475576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4" name="Freeform 4"/>
          <p:cNvSpPr/>
          <p:nvPr/>
        </p:nvSpPr>
        <p:spPr>
          <a:xfrm>
            <a:off x="734126" y="1968323"/>
            <a:ext cx="8775616" cy="6350355"/>
          </a:xfrm>
          <a:custGeom>
            <a:avLst/>
            <a:gdLst/>
            <a:ahLst/>
            <a:cxnLst/>
            <a:rect l="l" t="t" r="r" b="b"/>
            <a:pathLst>
              <a:path w="8775616" h="6350355">
                <a:moveTo>
                  <a:pt x="0" y="0"/>
                </a:moveTo>
                <a:lnTo>
                  <a:pt x="8775616" y="0"/>
                </a:lnTo>
                <a:lnTo>
                  <a:pt x="8775616" y="6350354"/>
                </a:lnTo>
                <a:lnTo>
                  <a:pt x="0" y="6350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198674" y="8357092"/>
            <a:ext cx="3020108" cy="3020108"/>
            <a:chOff x="0" y="0"/>
            <a:chExt cx="2787650" cy="2787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-440577" y="-592107"/>
            <a:ext cx="2098262" cy="2098262"/>
            <a:chOff x="0" y="0"/>
            <a:chExt cx="2787650" cy="2787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764235" y="1190984"/>
            <a:ext cx="815293" cy="345783"/>
            <a:chOff x="0" y="0"/>
            <a:chExt cx="2527300" cy="1071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764235" y="1475545"/>
            <a:ext cx="815293" cy="345783"/>
            <a:chOff x="0" y="0"/>
            <a:chExt cx="2527300" cy="1071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848426" y="2787599"/>
            <a:ext cx="815293" cy="345783"/>
            <a:chOff x="0" y="0"/>
            <a:chExt cx="2527300" cy="1071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48426" y="3072160"/>
            <a:ext cx="815293" cy="345783"/>
            <a:chOff x="0" y="0"/>
            <a:chExt cx="2527300" cy="1071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72871" y="1992694"/>
            <a:ext cx="8819804" cy="12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2. The 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68873" y="3408680"/>
            <a:ext cx="6833227" cy="711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 smart platform that connects all university cafeterias in one place.</a:t>
            </a: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How It Works: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Student opens the app during lecture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Selects restaurant and items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Pays online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Chooses pickup time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Receives notification when ready</a:t>
            </a:r>
          </a:p>
          <a:p>
            <a:pPr marL="518155" lvl="1" indent="-259078" algn="just">
              <a:lnSpc>
                <a:spcPts val="3359"/>
              </a:lnSpc>
              <a:buAutoNum type="arabicPeriod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Picks up food instantly with no queue</a:t>
            </a: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Key Features: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Online ordering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Scheduled pickup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Real-time notifications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Digital wallet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Loyalty rewards</a:t>
            </a:r>
          </a:p>
          <a:p>
            <a:pPr marL="518155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Vendor dashboard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FFFFFF"/>
              </a:solidFill>
              <a:latin typeface="29LT Riwaya Bold"/>
              <a:ea typeface="29LT Riwaya Bold"/>
              <a:cs typeface="29LT Riwaya Bold"/>
              <a:sym typeface="29LT Riway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54984" y="-4861857"/>
            <a:ext cx="10778031" cy="107780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589358" y="-529716"/>
            <a:ext cx="2098262" cy="2098262"/>
            <a:chOff x="0" y="0"/>
            <a:chExt cx="2787650" cy="2787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440577" y="-592107"/>
            <a:ext cx="2098262" cy="2098262"/>
            <a:chOff x="0" y="0"/>
            <a:chExt cx="2787650" cy="2787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293709"/>
            <a:ext cx="15988073" cy="8993291"/>
          </a:xfrm>
          <a:custGeom>
            <a:avLst/>
            <a:gdLst/>
            <a:ahLst/>
            <a:cxnLst/>
            <a:rect l="l" t="t" r="r" b="b"/>
            <a:pathLst>
              <a:path w="15988073" h="8993291">
                <a:moveTo>
                  <a:pt x="0" y="0"/>
                </a:moveTo>
                <a:lnTo>
                  <a:pt x="15988073" y="0"/>
                </a:lnTo>
                <a:lnTo>
                  <a:pt x="15988073" y="8993291"/>
                </a:lnTo>
                <a:lnTo>
                  <a:pt x="0" y="8993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TextBox 9"/>
          <p:cNvSpPr txBox="1"/>
          <p:nvPr/>
        </p:nvSpPr>
        <p:spPr>
          <a:xfrm>
            <a:off x="2009957" y="-142875"/>
            <a:ext cx="14227130" cy="12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3. Business Model Canvas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989966" y="8271367"/>
            <a:ext cx="3020108" cy="3020108"/>
            <a:chOff x="0" y="0"/>
            <a:chExt cx="2787650" cy="2787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589358" y="-529716"/>
            <a:ext cx="2098262" cy="2098262"/>
            <a:chOff x="0" y="0"/>
            <a:chExt cx="2787650" cy="2787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757899" y="2234230"/>
            <a:ext cx="815293" cy="345783"/>
            <a:chOff x="0" y="0"/>
            <a:chExt cx="2527300" cy="1071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57899" y="2518792"/>
            <a:ext cx="815293" cy="345783"/>
            <a:chOff x="0" y="0"/>
            <a:chExt cx="2527300" cy="1071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7638489" y="2864575"/>
            <a:ext cx="815293" cy="345783"/>
            <a:chOff x="0" y="0"/>
            <a:chExt cx="2527300" cy="1071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7638489" y="3149136"/>
            <a:ext cx="815293" cy="345783"/>
            <a:chOff x="0" y="0"/>
            <a:chExt cx="2527300" cy="1071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03569" y="77531"/>
            <a:ext cx="15400464" cy="15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29"/>
              </a:lnSpc>
              <a:spcBef>
                <a:spcPct val="0"/>
              </a:spcBef>
            </a:pPr>
            <a:r>
              <a:rPr lang="en-US" sz="9164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4. Market &amp; Competitors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868" y="2148532"/>
            <a:ext cx="9599376" cy="784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Market Opportunity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Thousands of students buy food daily inside universities.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If only 500 students order daily: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500 × 5 EGP = 2,500 EGP/day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Competitors: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Direct competitors inside campus: None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Indirect competitors:</a:t>
            </a:r>
          </a:p>
          <a:p>
            <a:pPr marL="638576" lvl="1" indent="-319288" algn="just">
              <a:lnSpc>
                <a:spcPts val="4140"/>
              </a:lnSpc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Traditional queues</a:t>
            </a:r>
          </a:p>
          <a:p>
            <a:pPr marL="638576" lvl="1" indent="-319288" algn="just">
              <a:lnSpc>
                <a:spcPts val="4140"/>
              </a:lnSpc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Direct cafeteria buying</a:t>
            </a:r>
          </a:p>
          <a:p>
            <a:pPr marL="638576" lvl="1" indent="-319288" algn="just">
              <a:lnSpc>
                <a:spcPts val="4140"/>
              </a:lnSpc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Delivery apps</a:t>
            </a:r>
          </a:p>
          <a:p>
            <a:pPr algn="just">
              <a:lnSpc>
                <a:spcPts val="4140"/>
              </a:lnSpc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Our Advantage:</a:t>
            </a:r>
          </a:p>
          <a:p>
            <a:pPr marL="638576" lvl="1" indent="-319288" algn="just">
              <a:lnSpc>
                <a:spcPts val="4140"/>
              </a:lnSpc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First mover in university market</a:t>
            </a:r>
          </a:p>
          <a:p>
            <a:pPr marL="638576" lvl="1" indent="-319288" algn="just">
              <a:lnSpc>
                <a:spcPts val="4140"/>
              </a:lnSpc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Faster than delivery apps</a:t>
            </a:r>
          </a:p>
          <a:p>
            <a:pPr marL="638576" lvl="1" indent="-319288" algn="just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29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Designed specifically for students</a:t>
            </a:r>
          </a:p>
          <a:p>
            <a:pPr algn="just">
              <a:lnSpc>
                <a:spcPts val="4140"/>
              </a:lnSpc>
              <a:spcBef>
                <a:spcPct val="0"/>
              </a:spcBef>
            </a:pPr>
            <a:endParaRPr lang="en-US" sz="2957" b="1">
              <a:solidFill>
                <a:srgbClr val="FFFFFF"/>
              </a:solidFill>
              <a:latin typeface="29LT Riwaya Bold"/>
              <a:ea typeface="29LT Riwaya Bold"/>
              <a:cs typeface="29LT Riwaya Bold"/>
              <a:sym typeface="29LT Riwaya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032519" y="1028700"/>
            <a:ext cx="4871181" cy="6487045"/>
          </a:xfrm>
          <a:custGeom>
            <a:avLst/>
            <a:gdLst/>
            <a:ahLst/>
            <a:cxnLst/>
            <a:rect l="l" t="t" r="r" b="b"/>
            <a:pathLst>
              <a:path w="4871181" h="6487045">
                <a:moveTo>
                  <a:pt x="0" y="0"/>
                </a:moveTo>
                <a:lnTo>
                  <a:pt x="4871181" y="0"/>
                </a:lnTo>
                <a:lnTo>
                  <a:pt x="4871181" y="6487045"/>
                </a:lnTo>
                <a:lnTo>
                  <a:pt x="0" y="6487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7" name="Freeform 17"/>
          <p:cNvSpPr/>
          <p:nvPr/>
        </p:nvSpPr>
        <p:spPr>
          <a:xfrm>
            <a:off x="10331444" y="5822026"/>
            <a:ext cx="4395234" cy="3436274"/>
          </a:xfrm>
          <a:custGeom>
            <a:avLst/>
            <a:gdLst/>
            <a:ahLst/>
            <a:cxnLst/>
            <a:rect l="l" t="t" r="r" b="b"/>
            <a:pathLst>
              <a:path w="4395234" h="3436274">
                <a:moveTo>
                  <a:pt x="0" y="0"/>
                </a:moveTo>
                <a:lnTo>
                  <a:pt x="4395234" y="0"/>
                </a:lnTo>
                <a:lnTo>
                  <a:pt x="4395234" y="3436274"/>
                </a:lnTo>
                <a:lnTo>
                  <a:pt x="0" y="3436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8" name="Freeform 18"/>
          <p:cNvSpPr/>
          <p:nvPr/>
        </p:nvSpPr>
        <p:spPr>
          <a:xfrm>
            <a:off x="9067800" y="4187171"/>
            <a:ext cx="1892300" cy="2478012"/>
          </a:xfrm>
          <a:custGeom>
            <a:avLst/>
            <a:gdLst/>
            <a:ahLst/>
            <a:cxnLst/>
            <a:rect l="l" t="t" r="r" b="b"/>
            <a:pathLst>
              <a:path w="1892300" h="2478012">
                <a:moveTo>
                  <a:pt x="0" y="0"/>
                </a:moveTo>
                <a:lnTo>
                  <a:pt x="1892300" y="0"/>
                </a:lnTo>
                <a:lnTo>
                  <a:pt x="1892300" y="2478012"/>
                </a:lnTo>
                <a:lnTo>
                  <a:pt x="0" y="2478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9" name="Freeform 19"/>
          <p:cNvSpPr/>
          <p:nvPr/>
        </p:nvSpPr>
        <p:spPr>
          <a:xfrm>
            <a:off x="14789144" y="7320670"/>
            <a:ext cx="3924313" cy="3875259"/>
          </a:xfrm>
          <a:custGeom>
            <a:avLst/>
            <a:gdLst/>
            <a:ahLst/>
            <a:cxnLst/>
            <a:rect l="l" t="t" r="r" b="b"/>
            <a:pathLst>
              <a:path w="3924313" h="3875259">
                <a:moveTo>
                  <a:pt x="0" y="0"/>
                </a:moveTo>
                <a:lnTo>
                  <a:pt x="3924312" y="0"/>
                </a:lnTo>
                <a:lnTo>
                  <a:pt x="3924312" y="3875260"/>
                </a:lnTo>
                <a:lnTo>
                  <a:pt x="0" y="3875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3176" y="4557836"/>
            <a:ext cx="7498248" cy="7498248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198674" y="8702600"/>
            <a:ext cx="3020108" cy="3020108"/>
            <a:chOff x="0" y="0"/>
            <a:chExt cx="2787650" cy="2787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305072" y="-1049131"/>
            <a:ext cx="2098262" cy="2098262"/>
            <a:chOff x="0" y="0"/>
            <a:chExt cx="2787650" cy="2787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883777" y="936588"/>
            <a:ext cx="8375523" cy="12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5. Timeline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13127" y="3676423"/>
            <a:ext cx="4187762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Objective: Build the foundation 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Tasks: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• Choose database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• Design schemas 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Setup server 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Configure security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83777" y="2677659"/>
            <a:ext cx="4015511" cy="83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  <a:spcBef>
                <a:spcPct val="0"/>
              </a:spcBef>
            </a:pPr>
            <a:r>
              <a:rPr lang="en-US" sz="2362" b="1">
                <a:solidFill>
                  <a:srgbClr val="FFCC00"/>
                </a:solidFill>
                <a:latin typeface="Ubuntu Bold"/>
                <a:ea typeface="Ubuntu Bold"/>
                <a:cs typeface="Ubuntu Bold"/>
                <a:sym typeface="Ubuntu Bold"/>
              </a:rPr>
              <a:t>Week 1:  Architecture &amp;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77965" y="3633681"/>
            <a:ext cx="4130763" cy="231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Objective: Build core system 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Tasks: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• Authentication system 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Restaurant APIs 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Order system 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Queue system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• Wallet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7965" y="2432549"/>
            <a:ext cx="4263548" cy="8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  <a:spcBef>
                <a:spcPct val="0"/>
              </a:spcBef>
            </a:pPr>
            <a:r>
              <a:rPr lang="en-US" sz="2562" b="1">
                <a:solidFill>
                  <a:srgbClr val="FFCC00"/>
                </a:solidFill>
                <a:latin typeface="Ubuntu Bold"/>
                <a:ea typeface="Ubuntu Bold"/>
                <a:cs typeface="Ubuntu Bold"/>
                <a:sym typeface="Ubuntu Bold"/>
              </a:rPr>
              <a:t>Week 2: Backend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3127" y="6809594"/>
            <a:ext cx="3843260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 Objective: Connect frontend and backend</a:t>
            </a:r>
          </a:p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 Tasks: </a:t>
            </a:r>
          </a:p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• Connect React with APIs</a:t>
            </a:r>
          </a:p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 • Implement order tracking</a:t>
            </a:r>
          </a:p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 • Connect restaurant dashboard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 • Manage application state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83777" y="6198402"/>
            <a:ext cx="3255837" cy="44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  <a:spcBef>
                <a:spcPct val="0"/>
              </a:spcBef>
            </a:pPr>
            <a:r>
              <a:rPr lang="en-US" sz="2562" b="1">
                <a:solidFill>
                  <a:srgbClr val="FFCC00"/>
                </a:solidFill>
                <a:latin typeface="Ubuntu Bold"/>
                <a:ea typeface="Ubuntu Bold"/>
                <a:cs typeface="Ubuntu Bold"/>
                <a:sym typeface="Ubuntu Bold"/>
              </a:rPr>
              <a:t>Week 3: Integration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7965" y="7153504"/>
            <a:ext cx="4263548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Objective: Ensure system quality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Tasks: 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Full system testing 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Load testing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 • Fix bugs 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• Final deployment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77965" y="6198402"/>
            <a:ext cx="3266862" cy="8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  <a:spcBef>
                <a:spcPct val="0"/>
              </a:spcBef>
            </a:pPr>
            <a:r>
              <a:rPr lang="en-US" sz="2562" b="1">
                <a:solidFill>
                  <a:srgbClr val="FFCC00"/>
                </a:solidFill>
                <a:latin typeface="Ubuntu Bold"/>
                <a:ea typeface="Ubuntu Bold"/>
                <a:cs typeface="Ubuntu Bold"/>
                <a:sym typeface="Ubuntu Bold"/>
              </a:rPr>
              <a:t>Week 4: Testing &amp; Optimization 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538909" y="2593022"/>
            <a:ext cx="815293" cy="345783"/>
            <a:chOff x="0" y="0"/>
            <a:chExt cx="2527300" cy="1071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6538909" y="2877583"/>
            <a:ext cx="815293" cy="345783"/>
            <a:chOff x="0" y="0"/>
            <a:chExt cx="2527300" cy="1071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0" y="4645591"/>
            <a:ext cx="815293" cy="345783"/>
            <a:chOff x="0" y="0"/>
            <a:chExt cx="2527300" cy="1071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0" y="4930152"/>
            <a:ext cx="815293" cy="345783"/>
            <a:chOff x="0" y="0"/>
            <a:chExt cx="2527300" cy="1071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815293" y="8943128"/>
            <a:ext cx="815293" cy="345783"/>
            <a:chOff x="0" y="0"/>
            <a:chExt cx="2527300" cy="10718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815293" y="9227689"/>
            <a:ext cx="815293" cy="345783"/>
            <a:chOff x="0" y="0"/>
            <a:chExt cx="2527300" cy="1071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-3000147" y="3797731"/>
            <a:ext cx="10212007" cy="10212007"/>
            <a:chOff x="0" y="0"/>
            <a:chExt cx="6350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D1616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31" name="Freeform 31"/>
          <p:cNvSpPr/>
          <p:nvPr/>
        </p:nvSpPr>
        <p:spPr>
          <a:xfrm>
            <a:off x="411993" y="1348919"/>
            <a:ext cx="3009812" cy="4897623"/>
          </a:xfrm>
          <a:custGeom>
            <a:avLst/>
            <a:gdLst/>
            <a:ahLst/>
            <a:cxnLst/>
            <a:rect l="l" t="t" r="r" b="b"/>
            <a:pathLst>
              <a:path w="3009812" h="4897623">
                <a:moveTo>
                  <a:pt x="0" y="0"/>
                </a:moveTo>
                <a:lnTo>
                  <a:pt x="3009813" y="0"/>
                </a:lnTo>
                <a:lnTo>
                  <a:pt x="3009813" y="4897623"/>
                </a:lnTo>
                <a:lnTo>
                  <a:pt x="0" y="4897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2" name="Freeform 32"/>
          <p:cNvSpPr/>
          <p:nvPr/>
        </p:nvSpPr>
        <p:spPr>
          <a:xfrm>
            <a:off x="3369952" y="3419816"/>
            <a:ext cx="4666099" cy="4897623"/>
          </a:xfrm>
          <a:custGeom>
            <a:avLst/>
            <a:gdLst/>
            <a:ahLst/>
            <a:cxnLst/>
            <a:rect l="l" t="t" r="r" b="b"/>
            <a:pathLst>
              <a:path w="4666099" h="4897623">
                <a:moveTo>
                  <a:pt x="0" y="0"/>
                </a:moveTo>
                <a:lnTo>
                  <a:pt x="4666100" y="0"/>
                </a:lnTo>
                <a:lnTo>
                  <a:pt x="4666100" y="4897623"/>
                </a:lnTo>
                <a:lnTo>
                  <a:pt x="0" y="4897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3" name="Freeform 33"/>
          <p:cNvSpPr/>
          <p:nvPr/>
        </p:nvSpPr>
        <p:spPr>
          <a:xfrm>
            <a:off x="78065" y="4680895"/>
            <a:ext cx="3677670" cy="4897623"/>
          </a:xfrm>
          <a:custGeom>
            <a:avLst/>
            <a:gdLst/>
            <a:ahLst/>
            <a:cxnLst/>
            <a:rect l="l" t="t" r="r" b="b"/>
            <a:pathLst>
              <a:path w="3677670" h="4897623">
                <a:moveTo>
                  <a:pt x="0" y="0"/>
                </a:moveTo>
                <a:lnTo>
                  <a:pt x="3677670" y="0"/>
                </a:lnTo>
                <a:lnTo>
                  <a:pt x="3677670" y="4897624"/>
                </a:lnTo>
                <a:lnTo>
                  <a:pt x="0" y="4897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97210" y="1028700"/>
            <a:ext cx="10090790" cy="9258300"/>
          </a:xfrm>
          <a:custGeom>
            <a:avLst/>
            <a:gdLst/>
            <a:ahLst/>
            <a:cxnLst/>
            <a:rect l="l" t="t" r="r" b="b"/>
            <a:pathLst>
              <a:path w="10090790" h="9258300">
                <a:moveTo>
                  <a:pt x="0" y="0"/>
                </a:moveTo>
                <a:lnTo>
                  <a:pt x="10090790" y="0"/>
                </a:lnTo>
                <a:lnTo>
                  <a:pt x="1009079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989966" y="8828226"/>
            <a:ext cx="2463249" cy="2463249"/>
            <a:chOff x="0" y="0"/>
            <a:chExt cx="2787650" cy="2787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589358" y="-529716"/>
            <a:ext cx="2098262" cy="2098262"/>
            <a:chOff x="0" y="0"/>
            <a:chExt cx="2787650" cy="2787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7650" cy="2787650"/>
            </a:xfrm>
            <a:custGeom>
              <a:avLst/>
              <a:gdLst/>
              <a:ahLst/>
              <a:cxnLst/>
              <a:rect l="l" t="t" r="r" b="b"/>
              <a:pathLst>
                <a:path w="2787650" h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736353" y="1314011"/>
            <a:ext cx="815293" cy="345783"/>
            <a:chOff x="0" y="0"/>
            <a:chExt cx="2527300" cy="1071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736353" y="1598573"/>
            <a:ext cx="815293" cy="345783"/>
            <a:chOff x="0" y="0"/>
            <a:chExt cx="2527300" cy="1071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7638489" y="3408877"/>
            <a:ext cx="815293" cy="345783"/>
            <a:chOff x="0" y="0"/>
            <a:chExt cx="2527300" cy="1071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7638489" y="3693439"/>
            <a:ext cx="815293" cy="345783"/>
            <a:chOff x="0" y="0"/>
            <a:chExt cx="2527300" cy="1071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2568" y="306348"/>
            <a:ext cx="7841432" cy="244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CC00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6. What We Need 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8399" y="3144991"/>
            <a:ext cx="8147954" cy="464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We are asking for:</a:t>
            </a:r>
          </a:p>
          <a:p>
            <a:pPr marL="573807" lvl="1" indent="-286904" algn="just">
              <a:lnSpc>
                <a:spcPts val="3720"/>
              </a:lnSpc>
              <a:buFont typeface="Arial"/>
              <a:buChar char="•"/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Approval to continue development</a:t>
            </a:r>
          </a:p>
          <a:p>
            <a:pPr marL="573807" lvl="1" indent="-286904" algn="just">
              <a:lnSpc>
                <a:spcPts val="3720"/>
              </a:lnSpc>
              <a:buFont typeface="Arial"/>
              <a:buChar char="•"/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Access to pilot test inside university</a:t>
            </a:r>
          </a:p>
          <a:p>
            <a:pPr marL="573807" lvl="1" indent="-286904" algn="just">
              <a:lnSpc>
                <a:spcPts val="3720"/>
              </a:lnSpc>
              <a:buFont typeface="Arial"/>
              <a:buChar char="•"/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Partnerships with cafeterias</a:t>
            </a:r>
          </a:p>
          <a:p>
            <a:pPr marL="573807" lvl="1" indent="-286904" algn="just">
              <a:lnSpc>
                <a:spcPts val="3720"/>
              </a:lnSpc>
              <a:buFont typeface="Arial"/>
              <a:buChar char="•"/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Feedback from mentors</a:t>
            </a:r>
          </a:p>
          <a:p>
            <a:pPr marL="573807" lvl="1" indent="-286904" algn="just">
              <a:lnSpc>
                <a:spcPts val="3720"/>
              </a:lnSpc>
              <a:buFont typeface="Arial"/>
              <a:buChar char="•"/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Support for launch phase</a:t>
            </a:r>
          </a:p>
          <a:p>
            <a:pPr algn="just">
              <a:lnSpc>
                <a:spcPts val="3720"/>
              </a:lnSpc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Our Goal:</a:t>
            </a:r>
          </a:p>
          <a:p>
            <a:pPr algn="just">
              <a:lnSpc>
                <a:spcPts val="3720"/>
              </a:lnSpc>
            </a:pPr>
            <a:r>
              <a:rPr lang="en-US" sz="2657" b="1">
                <a:solidFill>
                  <a:srgbClr val="FFFFFF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To become the official smart food ordering platform for universities.</a:t>
            </a:r>
          </a:p>
          <a:p>
            <a:pPr algn="just">
              <a:lnSpc>
                <a:spcPts val="3720"/>
              </a:lnSpc>
              <a:spcBef>
                <a:spcPct val="0"/>
              </a:spcBef>
            </a:pPr>
            <a:endParaRPr lang="en-US" sz="2657" b="1">
              <a:solidFill>
                <a:srgbClr val="FFFFFF"/>
              </a:solidFill>
              <a:latin typeface="29LT Riwaya Bold"/>
              <a:ea typeface="29LT Riwaya Bold"/>
              <a:cs typeface="29LT Riwaya Bold"/>
              <a:sym typeface="29LT Riway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45211" y="-607579"/>
            <a:ext cx="9753458" cy="6888380"/>
          </a:xfrm>
          <a:custGeom>
            <a:avLst/>
            <a:gdLst/>
            <a:ahLst/>
            <a:cxnLst/>
            <a:rect l="l" t="t" r="r" b="b"/>
            <a:pathLst>
              <a:path w="9753458" h="6888380">
                <a:moveTo>
                  <a:pt x="0" y="0"/>
                </a:moveTo>
                <a:lnTo>
                  <a:pt x="9753458" y="0"/>
                </a:lnTo>
                <a:lnTo>
                  <a:pt x="9753458" y="6888380"/>
                </a:lnTo>
                <a:lnTo>
                  <a:pt x="0" y="6888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15502619" y="0"/>
            <a:ext cx="2785381" cy="1831388"/>
          </a:xfrm>
          <a:custGeom>
            <a:avLst/>
            <a:gdLst/>
            <a:ahLst/>
            <a:cxnLst/>
            <a:rect l="l" t="t" r="r" b="b"/>
            <a:pathLst>
              <a:path w="2785381" h="1831388">
                <a:moveTo>
                  <a:pt x="0" y="0"/>
                </a:moveTo>
                <a:lnTo>
                  <a:pt x="2785381" y="0"/>
                </a:lnTo>
                <a:lnTo>
                  <a:pt x="2785381" y="1831388"/>
                </a:lnTo>
                <a:lnTo>
                  <a:pt x="0" y="183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grpSp>
        <p:nvGrpSpPr>
          <p:cNvPr id="4" name="Group 4"/>
          <p:cNvGrpSpPr/>
          <p:nvPr/>
        </p:nvGrpSpPr>
        <p:grpSpPr>
          <a:xfrm>
            <a:off x="-950370" y="8397559"/>
            <a:ext cx="20889406" cy="3086100"/>
            <a:chOff x="0" y="0"/>
            <a:chExt cx="5501737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1737" cy="812800"/>
            </a:xfrm>
            <a:custGeom>
              <a:avLst/>
              <a:gdLst/>
              <a:ahLst/>
              <a:cxnLst/>
              <a:rect l="l" t="t" r="r" b="b"/>
              <a:pathLst>
                <a:path w="5501737" h="812800">
                  <a:moveTo>
                    <a:pt x="0" y="0"/>
                  </a:moveTo>
                  <a:lnTo>
                    <a:pt x="5501737" y="0"/>
                  </a:lnTo>
                  <a:lnTo>
                    <a:pt x="550173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13228">
                    <a:alpha val="100000"/>
                  </a:srgbClr>
                </a:gs>
                <a:gs pos="100000">
                  <a:srgbClr val="B71C18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50173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87139" y="1106194"/>
            <a:ext cx="7475442" cy="141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41"/>
              </a:lnSpc>
            </a:pPr>
            <a:r>
              <a:rPr lang="en-US" sz="10541">
                <a:solidFill>
                  <a:srgbClr val="ECBC23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rot="2522764">
            <a:off x="13664695" y="7000267"/>
            <a:ext cx="3440536" cy="4854372"/>
          </a:xfrm>
          <a:custGeom>
            <a:avLst/>
            <a:gdLst/>
            <a:ahLst/>
            <a:cxnLst/>
            <a:rect l="l" t="t" r="r" b="b"/>
            <a:pathLst>
              <a:path w="3440536" h="4854372">
                <a:moveTo>
                  <a:pt x="0" y="0"/>
                </a:moveTo>
                <a:lnTo>
                  <a:pt x="3440536" y="0"/>
                </a:lnTo>
                <a:lnTo>
                  <a:pt x="3440536" y="4854372"/>
                </a:lnTo>
                <a:lnTo>
                  <a:pt x="0" y="4854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-3257087" y="3358489"/>
            <a:ext cx="10006131" cy="6228816"/>
          </a:xfrm>
          <a:custGeom>
            <a:avLst/>
            <a:gdLst/>
            <a:ahLst/>
            <a:cxnLst/>
            <a:rect l="l" t="t" r="r" b="b"/>
            <a:pathLst>
              <a:path w="10006131" h="6228816">
                <a:moveTo>
                  <a:pt x="0" y="0"/>
                </a:moveTo>
                <a:lnTo>
                  <a:pt x="10006130" y="0"/>
                </a:lnTo>
                <a:lnTo>
                  <a:pt x="10006130" y="6228816"/>
                </a:lnTo>
                <a:lnTo>
                  <a:pt x="0" y="6228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>
            <a:off x="207768" y="598330"/>
            <a:ext cx="820932" cy="860741"/>
          </a:xfrm>
          <a:custGeom>
            <a:avLst/>
            <a:gdLst/>
            <a:ahLst/>
            <a:cxnLst/>
            <a:rect l="l" t="t" r="r" b="b"/>
            <a:pathLst>
              <a:path w="820932" h="860741">
                <a:moveTo>
                  <a:pt x="0" y="0"/>
                </a:moveTo>
                <a:lnTo>
                  <a:pt x="820932" y="0"/>
                </a:lnTo>
                <a:lnTo>
                  <a:pt x="820932" y="860740"/>
                </a:lnTo>
                <a:lnTo>
                  <a:pt x="0" y="860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Freeform 11"/>
          <p:cNvSpPr/>
          <p:nvPr/>
        </p:nvSpPr>
        <p:spPr>
          <a:xfrm rot="-5547952">
            <a:off x="2146897" y="-3956875"/>
            <a:ext cx="6109494" cy="7628920"/>
          </a:xfrm>
          <a:custGeom>
            <a:avLst/>
            <a:gdLst/>
            <a:ahLst/>
            <a:cxnLst/>
            <a:rect l="l" t="t" r="r" b="b"/>
            <a:pathLst>
              <a:path w="6109494" h="7628920">
                <a:moveTo>
                  <a:pt x="0" y="0"/>
                </a:moveTo>
                <a:lnTo>
                  <a:pt x="6109493" y="0"/>
                </a:lnTo>
                <a:lnTo>
                  <a:pt x="6109493" y="7628920"/>
                </a:lnTo>
                <a:lnTo>
                  <a:pt x="0" y="7628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5601917" y="2798511"/>
            <a:ext cx="10743841" cy="198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283">
                <a:solidFill>
                  <a:srgbClr val="F3EAE8"/>
                </a:solidFill>
                <a:latin typeface="29LT Riwaya"/>
                <a:ea typeface="29LT Riwaya"/>
                <a:cs typeface="29LT Riwaya"/>
                <a:sym typeface="29LT Riwaya"/>
              </a:rPr>
              <a:t>We would like to sincerely thank Dr. Soha Safwat and Dr. Ahmed Mahran for their valuable support and great efforts throughout our project.</a:t>
            </a:r>
          </a:p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283">
                <a:solidFill>
                  <a:srgbClr val="F3EAE8"/>
                </a:solidFill>
                <a:latin typeface="29LT Riwaya"/>
                <a:ea typeface="29LT Riwaya"/>
                <a:cs typeface="29LT Riwaya"/>
                <a:sym typeface="29LT Riwaya"/>
              </a:rPr>
              <a:t>Your guidance and encouragement meant a lot to us and truly made a significant difference.</a:t>
            </a:r>
          </a:p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283">
                <a:solidFill>
                  <a:srgbClr val="F3EAE8"/>
                </a:solidFill>
                <a:latin typeface="29LT Riwaya"/>
                <a:ea typeface="29LT Riwaya"/>
                <a:cs typeface="29LT Riwaya"/>
                <a:sym typeface="29LT Riwaya"/>
              </a:rPr>
              <a:t>                                    OUR TEAM: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5975B11-1B0A-7165-F8BE-5621E4178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41298"/>
              </p:ext>
            </p:extLst>
          </p:nvPr>
        </p:nvGraphicFramePr>
        <p:xfrm>
          <a:off x="6826805" y="4944583"/>
          <a:ext cx="8229600" cy="36118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025085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78505906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Ebrahim Yussif Ebrahim | C4 | 692400174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Ahmed Mohamed Refaat | C2 | 692400154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96652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Fady Fouad Milad | C3 | 692400508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Noura Maher Mohamed | C3 | 692400276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99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Ferial Mohamed Saad | C4 | 692400369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Noha Mohamed Hamdi | C3 | 692400012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221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Ahmed Yousry Tagelmoulok | C3 | 692400615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b="1">
                          <a:solidFill>
                            <a:srgbClr val="FFFFFF"/>
                          </a:solidFill>
                          <a:effectLst/>
                        </a:rPr>
                        <a:t>Seif Eldin Mohamed | D3 | 692400535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95516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Ahmed Said Abdelhaseb | C4 | 692400495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Mohammed Walid | A3 | 692400507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05996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effectLst/>
                        </a:rPr>
                        <a:t>Ali Fahmi Abolela | B1 | 692400782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EG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3488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514</Words>
  <Application>Microsoft Office PowerPoint</Application>
  <PresentationFormat>Custom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Genty</vt:lpstr>
      <vt:lpstr>Ubuntu Bold</vt:lpstr>
      <vt:lpstr>Arial</vt:lpstr>
      <vt:lpstr>29LT Riwaya</vt:lpstr>
      <vt:lpstr>Bukhari Script</vt:lpstr>
      <vt:lpstr>29LT Riwaya Bold</vt:lpstr>
      <vt:lpstr>Amiri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Truck Presentation</dc:title>
  <dc:creator>noura maher</dc:creator>
  <cp:lastModifiedBy>noura maher</cp:lastModifiedBy>
  <cp:revision>2</cp:revision>
  <dcterms:created xsi:type="dcterms:W3CDTF">2006-08-16T00:00:00Z</dcterms:created>
  <dcterms:modified xsi:type="dcterms:W3CDTF">2026-04-21T01:44:56Z</dcterms:modified>
  <dc:identifier>DAHHKfPLn-4</dc:identifier>
</cp:coreProperties>
</file>