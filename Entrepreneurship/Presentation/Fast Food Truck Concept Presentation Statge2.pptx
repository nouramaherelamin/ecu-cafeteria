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DG Ghayaty Bold" panose="020B0604020202020204" charset="-78"/>
      <p:regular r:id="rId15"/>
    </p:embeddedFont>
    <p:embeddedFont>
      <p:font typeface="DG Sahabh Bold" panose="020B0604020202020204" charset="-78"/>
      <p:regular r:id="rId16"/>
    </p:embeddedFont>
    <p:embeddedFont>
      <p:font typeface="Lilita One" panose="020B0604020202020204" charset="0"/>
      <p:regular r:id="rId17"/>
    </p:embeddedFont>
    <p:embeddedFont>
      <p:font typeface="Sensei"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25" d="100"/>
          <a:sy n="25" d="100"/>
        </p:scale>
        <p:origin x="2386" y="10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6.sv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4.svg"/><Relationship Id="rId4" Type="http://schemas.openxmlformats.org/officeDocument/2006/relationships/image" Target="../media/image9.svg"/></Relationships>
</file>

<file path=ppt/slides/_rels/slide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12.svg"/><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Layout" Target="../slideLayouts/slideLayout7.xml"/><Relationship Id="rId6" Type="http://schemas.openxmlformats.org/officeDocument/2006/relationships/image" Target="../media/image15.svg"/><Relationship Id="rId5" Type="http://schemas.openxmlformats.org/officeDocument/2006/relationships/image" Target="../media/image2.svg"/><Relationship Id="rId4" Type="http://schemas.openxmlformats.org/officeDocument/2006/relationships/image" Target="../media/image14.svg"/></Relationships>
</file>

<file path=ppt/slides/_rels/slide8.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svg"/><Relationship Id="rId7" Type="http://schemas.openxmlformats.org/officeDocument/2006/relationships/image" Target="../media/image20.svg"/><Relationship Id="rId2" Type="http://schemas.openxmlformats.org/officeDocument/2006/relationships/image" Target="../media/image4.svg"/><Relationship Id="rId1" Type="http://schemas.openxmlformats.org/officeDocument/2006/relationships/slideLayout" Target="../slideLayouts/slideLayout7.xml"/><Relationship Id="rId6" Type="http://schemas.openxmlformats.org/officeDocument/2006/relationships/image" Target="../media/image16.svg"/><Relationship Id="rId5" Type="http://schemas.openxmlformats.org/officeDocument/2006/relationships/image" Target="../media/image19.svg"/><Relationship Id="rId4" Type="http://schemas.openxmlformats.org/officeDocument/2006/relationships/image" Target="../media/image18.svg"/></Relationships>
</file>

<file path=ppt/slides/_rels/slide1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1.svg"/><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23.svg"/><Relationship Id="rId4" Type="http://schemas.openxmlformats.org/officeDocument/2006/relationships/image" Target="../media/image22.svg"/></Relationships>
</file>

<file path=ppt/slides/_rels/slide11.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25.svg"/></Relationships>
</file>

<file path=ppt/slides/_rels/slide12.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6.svg"/><Relationship Id="rId7" Type="http://schemas.openxmlformats.org/officeDocument/2006/relationships/oleObject" Target="../embeddings/oleObject2.bin"/><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oleObject" Target="../embeddings/oleObject1.bin"/><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9.svg"/><Relationship Id="rId1" Type="http://schemas.openxmlformats.org/officeDocument/2006/relationships/slideLayout" Target="../slideLayouts/slideLayout7.xml"/><Relationship Id="rId5" Type="http://schemas.openxmlformats.org/officeDocument/2006/relationships/image" Target="../media/image30.png"/><Relationship Id="rId4" Type="http://schemas.openxmlformats.org/officeDocument/2006/relationships/image" Target="../media/image4.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DFDBD"/>
        </a:solidFill>
        <a:effectLst/>
      </p:bgPr>
    </p:bg>
    <p:spTree>
      <p:nvGrpSpPr>
        <p:cNvPr id="1" name=""/>
        <p:cNvGrpSpPr/>
        <p:nvPr/>
      </p:nvGrpSpPr>
      <p:grpSpPr>
        <a:xfrm>
          <a:off x="0" y="0"/>
          <a:ext cx="0" cy="0"/>
          <a:chOff x="0" y="0"/>
          <a:chExt cx="0" cy="0"/>
        </a:xfrm>
      </p:grpSpPr>
      <p:sp>
        <p:nvSpPr>
          <p:cNvPr id="2" name="Freeform 2"/>
          <p:cNvSpPr/>
          <p:nvPr/>
        </p:nvSpPr>
        <p:spPr>
          <a:xfrm>
            <a:off x="-2096580" y="9130570"/>
            <a:ext cx="18579352" cy="3690773"/>
          </a:xfrm>
          <a:custGeom>
            <a:avLst/>
            <a:gdLst/>
            <a:ahLst/>
            <a:cxnLst/>
            <a:rect l="l" t="t" r="r" b="b"/>
            <a:pathLst>
              <a:path w="18579352" h="3690773">
                <a:moveTo>
                  <a:pt x="0" y="0"/>
                </a:moveTo>
                <a:lnTo>
                  <a:pt x="18579352" y="0"/>
                </a:lnTo>
                <a:lnTo>
                  <a:pt x="18579352" y="3690773"/>
                </a:lnTo>
                <a:lnTo>
                  <a:pt x="0" y="369077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ar-EG"/>
          </a:p>
        </p:txBody>
      </p:sp>
      <p:sp>
        <p:nvSpPr>
          <p:cNvPr id="3" name="Freeform 3"/>
          <p:cNvSpPr/>
          <p:nvPr/>
        </p:nvSpPr>
        <p:spPr>
          <a:xfrm>
            <a:off x="492757" y="3636357"/>
            <a:ext cx="8651243" cy="6650643"/>
          </a:xfrm>
          <a:custGeom>
            <a:avLst/>
            <a:gdLst/>
            <a:ahLst/>
            <a:cxnLst/>
            <a:rect l="l" t="t" r="r" b="b"/>
            <a:pathLst>
              <a:path w="8651243" h="6650643">
                <a:moveTo>
                  <a:pt x="0" y="0"/>
                </a:moveTo>
                <a:lnTo>
                  <a:pt x="8651243" y="0"/>
                </a:lnTo>
                <a:lnTo>
                  <a:pt x="8651243" y="6650643"/>
                </a:lnTo>
                <a:lnTo>
                  <a:pt x="0" y="665064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EG"/>
          </a:p>
        </p:txBody>
      </p:sp>
      <p:sp>
        <p:nvSpPr>
          <p:cNvPr id="4" name="Freeform 4"/>
          <p:cNvSpPr/>
          <p:nvPr/>
        </p:nvSpPr>
        <p:spPr>
          <a:xfrm flipH="1">
            <a:off x="14869017" y="6048574"/>
            <a:ext cx="3994090" cy="4519479"/>
          </a:xfrm>
          <a:custGeom>
            <a:avLst/>
            <a:gdLst/>
            <a:ahLst/>
            <a:cxnLst/>
            <a:rect l="l" t="t" r="r" b="b"/>
            <a:pathLst>
              <a:path w="3994090" h="4519479">
                <a:moveTo>
                  <a:pt x="3994090" y="0"/>
                </a:moveTo>
                <a:lnTo>
                  <a:pt x="0" y="0"/>
                </a:lnTo>
                <a:lnTo>
                  <a:pt x="0" y="4519479"/>
                </a:lnTo>
                <a:lnTo>
                  <a:pt x="3994090" y="4519479"/>
                </a:lnTo>
                <a:lnTo>
                  <a:pt x="399409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EG"/>
          </a:p>
        </p:txBody>
      </p:sp>
      <p:sp>
        <p:nvSpPr>
          <p:cNvPr id="5" name="Freeform 5"/>
          <p:cNvSpPr/>
          <p:nvPr/>
        </p:nvSpPr>
        <p:spPr>
          <a:xfrm>
            <a:off x="14630400" y="-245213"/>
            <a:ext cx="7315200" cy="1975104"/>
          </a:xfrm>
          <a:custGeom>
            <a:avLst/>
            <a:gdLst/>
            <a:ahLst/>
            <a:cxnLst/>
            <a:rect l="l" t="t" r="r" b="b"/>
            <a:pathLst>
              <a:path w="7315200" h="1975104">
                <a:moveTo>
                  <a:pt x="0" y="0"/>
                </a:moveTo>
                <a:lnTo>
                  <a:pt x="7315200" y="0"/>
                </a:lnTo>
                <a:lnTo>
                  <a:pt x="7315200" y="1975104"/>
                </a:lnTo>
                <a:lnTo>
                  <a:pt x="0" y="197510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EG"/>
          </a:p>
        </p:txBody>
      </p:sp>
      <p:sp>
        <p:nvSpPr>
          <p:cNvPr id="6" name="TextBox 6"/>
          <p:cNvSpPr txBox="1"/>
          <p:nvPr/>
        </p:nvSpPr>
        <p:spPr>
          <a:xfrm>
            <a:off x="7193096" y="2044625"/>
            <a:ext cx="11094904" cy="3487997"/>
          </a:xfrm>
          <a:prstGeom prst="rect">
            <a:avLst/>
          </a:prstGeom>
        </p:spPr>
        <p:txBody>
          <a:bodyPr lIns="0" tIns="0" rIns="0" bIns="0" rtlCol="0" anchor="t">
            <a:spAutoFit/>
          </a:bodyPr>
          <a:lstStyle/>
          <a:p>
            <a:pPr algn="ctr">
              <a:lnSpc>
                <a:spcPts val="9007"/>
              </a:lnSpc>
            </a:pPr>
            <a:r>
              <a:rPr lang="en-US" sz="8830">
                <a:solidFill>
                  <a:srgbClr val="000000"/>
                </a:solidFill>
                <a:latin typeface="Lilita One"/>
                <a:ea typeface="Lilita One"/>
                <a:cs typeface="Lilita One"/>
                <a:sym typeface="Lilita One"/>
              </a:rPr>
              <a:t>DALLA3 KERSHAK UNIVERSITY FOOD APPLICATION</a:t>
            </a:r>
          </a:p>
        </p:txBody>
      </p:sp>
      <p:sp>
        <p:nvSpPr>
          <p:cNvPr id="7" name="TextBox 7"/>
          <p:cNvSpPr txBox="1"/>
          <p:nvPr/>
        </p:nvSpPr>
        <p:spPr>
          <a:xfrm>
            <a:off x="9670859" y="5418322"/>
            <a:ext cx="5455347" cy="990519"/>
          </a:xfrm>
          <a:prstGeom prst="rect">
            <a:avLst/>
          </a:prstGeom>
        </p:spPr>
        <p:txBody>
          <a:bodyPr lIns="0" tIns="0" rIns="0" bIns="0" rtlCol="0" anchor="t">
            <a:spAutoFit/>
          </a:bodyPr>
          <a:lstStyle/>
          <a:p>
            <a:pPr algn="ctr">
              <a:lnSpc>
                <a:spcPts val="8113"/>
              </a:lnSpc>
            </a:pPr>
            <a:r>
              <a:rPr lang="en-US" sz="5795">
                <a:solidFill>
                  <a:srgbClr val="000000"/>
                </a:solidFill>
                <a:latin typeface="Sensei"/>
                <a:ea typeface="Sensei"/>
                <a:cs typeface="Sensei"/>
                <a:sym typeface="Sensei"/>
              </a:rPr>
              <a:t>Presentation</a:t>
            </a:r>
          </a:p>
        </p:txBody>
      </p:sp>
      <p:sp>
        <p:nvSpPr>
          <p:cNvPr id="8" name="Freeform 8"/>
          <p:cNvSpPr/>
          <p:nvPr/>
        </p:nvSpPr>
        <p:spPr>
          <a:xfrm>
            <a:off x="-3321716" y="516986"/>
            <a:ext cx="7315200" cy="1975104"/>
          </a:xfrm>
          <a:custGeom>
            <a:avLst/>
            <a:gdLst/>
            <a:ahLst/>
            <a:cxnLst/>
            <a:rect l="l" t="t" r="r" b="b"/>
            <a:pathLst>
              <a:path w="7315200" h="1975104">
                <a:moveTo>
                  <a:pt x="0" y="0"/>
                </a:moveTo>
                <a:lnTo>
                  <a:pt x="7315200" y="0"/>
                </a:lnTo>
                <a:lnTo>
                  <a:pt x="7315200" y="1975104"/>
                </a:lnTo>
                <a:lnTo>
                  <a:pt x="0" y="197510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EG"/>
          </a:p>
        </p:txBody>
      </p:sp>
      <p:sp>
        <p:nvSpPr>
          <p:cNvPr id="9" name="TextBox 9"/>
          <p:cNvSpPr txBox="1"/>
          <p:nvPr/>
        </p:nvSpPr>
        <p:spPr>
          <a:xfrm>
            <a:off x="8733306" y="6216561"/>
            <a:ext cx="7330453" cy="995680"/>
          </a:xfrm>
          <a:prstGeom prst="rect">
            <a:avLst/>
          </a:prstGeom>
        </p:spPr>
        <p:txBody>
          <a:bodyPr lIns="0" tIns="0" rIns="0" bIns="0" rtlCol="0" anchor="t">
            <a:spAutoFit/>
          </a:bodyPr>
          <a:lstStyle/>
          <a:p>
            <a:pPr algn="ctr">
              <a:lnSpc>
                <a:spcPts val="8119"/>
              </a:lnSpc>
            </a:pPr>
            <a:r>
              <a:rPr lang="en-US" sz="5799">
                <a:solidFill>
                  <a:srgbClr val="000000"/>
                </a:solidFill>
                <a:latin typeface="Sensei"/>
                <a:ea typeface="Sensei"/>
                <a:cs typeface="Sensei"/>
                <a:sym typeface="Sensei"/>
              </a:rPr>
              <a:t>By Team Masterpiece </a:t>
            </a:r>
          </a:p>
        </p:txBody>
      </p:sp>
      <p:sp>
        <p:nvSpPr>
          <p:cNvPr id="10" name="TextBox 10"/>
          <p:cNvSpPr txBox="1"/>
          <p:nvPr/>
        </p:nvSpPr>
        <p:spPr>
          <a:xfrm>
            <a:off x="9344025" y="8251164"/>
            <a:ext cx="2841665" cy="941069"/>
          </a:xfrm>
          <a:prstGeom prst="rect">
            <a:avLst/>
          </a:prstGeom>
        </p:spPr>
        <p:txBody>
          <a:bodyPr lIns="0" tIns="0" rIns="0" bIns="0" rtlCol="0" anchor="t">
            <a:spAutoFit/>
          </a:bodyPr>
          <a:lstStyle/>
          <a:p>
            <a:pPr algn="l">
              <a:lnSpc>
                <a:spcPts val="3780"/>
              </a:lnSpc>
              <a:spcBef>
                <a:spcPct val="0"/>
              </a:spcBef>
            </a:pPr>
            <a:r>
              <a:rPr lang="en-US" sz="2700">
                <a:solidFill>
                  <a:srgbClr val="000000"/>
                </a:solidFill>
                <a:latin typeface="Sensei"/>
                <a:ea typeface="Sensei"/>
                <a:cs typeface="Sensei"/>
                <a:sym typeface="Sensei"/>
              </a:rPr>
              <a:t>Dr: Ahmed Mahran </a:t>
            </a:r>
          </a:p>
          <a:p>
            <a:pPr algn="l">
              <a:lnSpc>
                <a:spcPts val="3780"/>
              </a:lnSpc>
              <a:spcBef>
                <a:spcPct val="0"/>
              </a:spcBef>
            </a:pPr>
            <a:r>
              <a:rPr lang="en-US" sz="2700">
                <a:solidFill>
                  <a:srgbClr val="000000"/>
                </a:solidFill>
                <a:latin typeface="Sensei"/>
                <a:ea typeface="Sensei"/>
                <a:cs typeface="Sensei"/>
                <a:sym typeface="Sensei"/>
              </a:rPr>
              <a:t>Code: AHU20XX</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DFDBD"/>
        </a:solidFill>
        <a:effectLst/>
      </p:bgPr>
    </p:bg>
    <p:spTree>
      <p:nvGrpSpPr>
        <p:cNvPr id="1" name=""/>
        <p:cNvGrpSpPr/>
        <p:nvPr/>
      </p:nvGrpSpPr>
      <p:grpSpPr>
        <a:xfrm>
          <a:off x="0" y="0"/>
          <a:ext cx="0" cy="0"/>
          <a:chOff x="0" y="0"/>
          <a:chExt cx="0" cy="0"/>
        </a:xfrm>
      </p:grpSpPr>
      <p:sp>
        <p:nvSpPr>
          <p:cNvPr id="2" name="Freeform 2"/>
          <p:cNvSpPr/>
          <p:nvPr/>
        </p:nvSpPr>
        <p:spPr>
          <a:xfrm>
            <a:off x="-1072206" y="9258300"/>
            <a:ext cx="18579352" cy="3690773"/>
          </a:xfrm>
          <a:custGeom>
            <a:avLst/>
            <a:gdLst/>
            <a:ahLst/>
            <a:cxnLst/>
            <a:rect l="l" t="t" r="r" b="b"/>
            <a:pathLst>
              <a:path w="18579352" h="3690773">
                <a:moveTo>
                  <a:pt x="0" y="0"/>
                </a:moveTo>
                <a:lnTo>
                  <a:pt x="18579352" y="0"/>
                </a:lnTo>
                <a:lnTo>
                  <a:pt x="18579352" y="3690773"/>
                </a:lnTo>
                <a:lnTo>
                  <a:pt x="0" y="369077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ar-EG"/>
          </a:p>
        </p:txBody>
      </p:sp>
      <p:sp>
        <p:nvSpPr>
          <p:cNvPr id="3" name="Freeform 3"/>
          <p:cNvSpPr/>
          <p:nvPr/>
        </p:nvSpPr>
        <p:spPr>
          <a:xfrm flipH="1">
            <a:off x="15391587" y="6639884"/>
            <a:ext cx="3471520" cy="3928170"/>
          </a:xfrm>
          <a:custGeom>
            <a:avLst/>
            <a:gdLst/>
            <a:ahLst/>
            <a:cxnLst/>
            <a:rect l="l" t="t" r="r" b="b"/>
            <a:pathLst>
              <a:path w="3471520" h="3928170">
                <a:moveTo>
                  <a:pt x="3471520" y="0"/>
                </a:moveTo>
                <a:lnTo>
                  <a:pt x="0" y="0"/>
                </a:lnTo>
                <a:lnTo>
                  <a:pt x="0" y="3928169"/>
                </a:lnTo>
                <a:lnTo>
                  <a:pt x="3471520" y="3928169"/>
                </a:lnTo>
                <a:lnTo>
                  <a:pt x="347152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EG"/>
          </a:p>
        </p:txBody>
      </p:sp>
      <p:sp>
        <p:nvSpPr>
          <p:cNvPr id="4" name="TextBox 4"/>
          <p:cNvSpPr txBox="1"/>
          <p:nvPr/>
        </p:nvSpPr>
        <p:spPr>
          <a:xfrm>
            <a:off x="9298633" y="1820872"/>
            <a:ext cx="8208513" cy="1445445"/>
          </a:xfrm>
          <a:prstGeom prst="rect">
            <a:avLst/>
          </a:prstGeom>
        </p:spPr>
        <p:txBody>
          <a:bodyPr lIns="0" tIns="0" rIns="0" bIns="0" rtlCol="0" anchor="t">
            <a:spAutoFit/>
          </a:bodyPr>
          <a:lstStyle/>
          <a:p>
            <a:pPr algn="ctr">
              <a:lnSpc>
                <a:spcPts val="10944"/>
              </a:lnSpc>
            </a:pPr>
            <a:r>
              <a:rPr lang="en-US" sz="10730">
                <a:solidFill>
                  <a:srgbClr val="000000"/>
                </a:solidFill>
                <a:latin typeface="Lilita One"/>
                <a:ea typeface="Lilita One"/>
                <a:cs typeface="Lilita One"/>
                <a:sym typeface="Lilita One"/>
              </a:rPr>
              <a:t>PROBLEM</a:t>
            </a:r>
          </a:p>
        </p:txBody>
      </p:sp>
      <p:sp>
        <p:nvSpPr>
          <p:cNvPr id="5" name="TextBox 5"/>
          <p:cNvSpPr txBox="1"/>
          <p:nvPr/>
        </p:nvSpPr>
        <p:spPr>
          <a:xfrm>
            <a:off x="9144000" y="3198495"/>
            <a:ext cx="10678412" cy="3813810"/>
          </a:xfrm>
          <a:prstGeom prst="rect">
            <a:avLst/>
          </a:prstGeom>
        </p:spPr>
        <p:txBody>
          <a:bodyPr lIns="0" tIns="0" rIns="0" bIns="0" rtlCol="0" anchor="t">
            <a:spAutoFit/>
          </a:bodyPr>
          <a:lstStyle/>
          <a:p>
            <a:pPr marL="777238" lvl="1" indent="-388619" algn="just">
              <a:lnSpc>
                <a:spcPts val="5039"/>
              </a:lnSpc>
              <a:buFont typeface="Arial"/>
              <a:buChar char="•"/>
            </a:pPr>
            <a:r>
              <a:rPr lang="en-US" sz="3599">
                <a:solidFill>
                  <a:srgbClr val="000000"/>
                </a:solidFill>
                <a:latin typeface="Sensei"/>
                <a:ea typeface="Sensei"/>
                <a:cs typeface="Sensei"/>
                <a:sym typeface="Sensei"/>
              </a:rPr>
              <a:t>Long queues waste 20–30 mins daily</a:t>
            </a:r>
          </a:p>
          <a:p>
            <a:pPr marL="777238" lvl="1" indent="-388619" algn="just">
              <a:lnSpc>
                <a:spcPts val="5039"/>
              </a:lnSpc>
              <a:buFont typeface="Arial"/>
              <a:buChar char="•"/>
            </a:pPr>
            <a:r>
              <a:rPr lang="en-US" sz="3599">
                <a:solidFill>
                  <a:srgbClr val="000000"/>
                </a:solidFill>
                <a:latin typeface="Sensei"/>
                <a:ea typeface="Sensei"/>
                <a:cs typeface="Sensei"/>
                <a:sym typeface="Sensei"/>
              </a:rPr>
              <a:t>Peak hours cap vendor capacity</a:t>
            </a:r>
          </a:p>
          <a:p>
            <a:pPr marL="777238" lvl="1" indent="-388619" algn="just">
              <a:lnSpc>
                <a:spcPts val="5039"/>
              </a:lnSpc>
              <a:buFont typeface="Arial"/>
              <a:buChar char="•"/>
            </a:pPr>
            <a:r>
              <a:rPr lang="en-US" sz="3599">
                <a:solidFill>
                  <a:srgbClr val="000000"/>
                </a:solidFill>
                <a:latin typeface="Sensei"/>
                <a:ea typeface="Sensei"/>
                <a:cs typeface="Sensei"/>
                <a:sym typeface="Sensei"/>
              </a:rPr>
              <a:t>Students miss breaks &amp; lectures</a:t>
            </a:r>
          </a:p>
          <a:p>
            <a:pPr marL="777238" lvl="1" indent="-388619" algn="just">
              <a:lnSpc>
                <a:spcPts val="5039"/>
              </a:lnSpc>
              <a:buFont typeface="Arial"/>
              <a:buChar char="•"/>
            </a:pPr>
            <a:r>
              <a:rPr lang="en-US" sz="3599">
                <a:solidFill>
                  <a:srgbClr val="000000"/>
                </a:solidFill>
                <a:latin typeface="Sensei"/>
                <a:ea typeface="Sensei"/>
                <a:cs typeface="Sensei"/>
                <a:sym typeface="Sensei"/>
              </a:rPr>
              <a:t>Cash handling slows operations</a:t>
            </a:r>
          </a:p>
          <a:p>
            <a:pPr marL="777238" lvl="1" indent="-388619" algn="just">
              <a:lnSpc>
                <a:spcPts val="5039"/>
              </a:lnSpc>
              <a:buFont typeface="Arial"/>
              <a:buChar char="•"/>
            </a:pPr>
            <a:r>
              <a:rPr lang="en-US" sz="3599">
                <a:solidFill>
                  <a:srgbClr val="000000"/>
                </a:solidFill>
                <a:latin typeface="Sensei"/>
                <a:ea typeface="Sensei"/>
                <a:cs typeface="Sensei"/>
                <a:sym typeface="Sensei"/>
              </a:rPr>
              <a:t>No smart campus ordering system</a:t>
            </a:r>
          </a:p>
          <a:p>
            <a:pPr algn="just">
              <a:lnSpc>
                <a:spcPts val="5039"/>
              </a:lnSpc>
            </a:pPr>
            <a:endParaRPr lang="en-US" sz="3599">
              <a:solidFill>
                <a:srgbClr val="000000"/>
              </a:solidFill>
              <a:latin typeface="Sensei"/>
              <a:ea typeface="Sensei"/>
              <a:cs typeface="Sensei"/>
              <a:sym typeface="Sensei"/>
            </a:endParaRPr>
          </a:p>
        </p:txBody>
      </p:sp>
      <p:sp>
        <p:nvSpPr>
          <p:cNvPr id="6" name="Freeform 6"/>
          <p:cNvSpPr/>
          <p:nvPr/>
        </p:nvSpPr>
        <p:spPr>
          <a:xfrm>
            <a:off x="-4011055" y="501711"/>
            <a:ext cx="9721961" cy="2624930"/>
          </a:xfrm>
          <a:custGeom>
            <a:avLst/>
            <a:gdLst/>
            <a:ahLst/>
            <a:cxnLst/>
            <a:rect l="l" t="t" r="r" b="b"/>
            <a:pathLst>
              <a:path w="9721961" h="2624930">
                <a:moveTo>
                  <a:pt x="0" y="0"/>
                </a:moveTo>
                <a:lnTo>
                  <a:pt x="9721962" y="0"/>
                </a:lnTo>
                <a:lnTo>
                  <a:pt x="9721962" y="2624929"/>
                </a:lnTo>
                <a:lnTo>
                  <a:pt x="0" y="262492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EG"/>
          </a:p>
        </p:txBody>
      </p:sp>
      <p:sp>
        <p:nvSpPr>
          <p:cNvPr id="7" name="Freeform 7"/>
          <p:cNvSpPr/>
          <p:nvPr/>
        </p:nvSpPr>
        <p:spPr>
          <a:xfrm>
            <a:off x="15391587" y="0"/>
            <a:ext cx="6073692" cy="1639897"/>
          </a:xfrm>
          <a:custGeom>
            <a:avLst/>
            <a:gdLst/>
            <a:ahLst/>
            <a:cxnLst/>
            <a:rect l="l" t="t" r="r" b="b"/>
            <a:pathLst>
              <a:path w="6073692" h="1639897">
                <a:moveTo>
                  <a:pt x="0" y="0"/>
                </a:moveTo>
                <a:lnTo>
                  <a:pt x="6073692" y="0"/>
                </a:lnTo>
                <a:lnTo>
                  <a:pt x="6073692" y="1639897"/>
                </a:lnTo>
                <a:lnTo>
                  <a:pt x="0" y="163989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EG"/>
          </a:p>
        </p:txBody>
      </p:sp>
      <p:sp>
        <p:nvSpPr>
          <p:cNvPr id="8" name="Freeform 8"/>
          <p:cNvSpPr/>
          <p:nvPr/>
        </p:nvSpPr>
        <p:spPr>
          <a:xfrm>
            <a:off x="-4011055" y="1244190"/>
            <a:ext cx="13088827" cy="8229600"/>
          </a:xfrm>
          <a:custGeom>
            <a:avLst/>
            <a:gdLst/>
            <a:ahLst/>
            <a:cxnLst/>
            <a:rect l="l" t="t" r="r" b="b"/>
            <a:pathLst>
              <a:path w="13088827" h="8229600">
                <a:moveTo>
                  <a:pt x="0" y="0"/>
                </a:moveTo>
                <a:lnTo>
                  <a:pt x="13088827" y="0"/>
                </a:lnTo>
                <a:lnTo>
                  <a:pt x="13088827" y="8229600"/>
                </a:lnTo>
                <a:lnTo>
                  <a:pt x="0" y="8229600"/>
                </a:lnTo>
                <a:lnTo>
                  <a:pt x="0" y="0"/>
                </a:lnTo>
                <a:close/>
              </a:path>
            </a:pathLst>
          </a:custGeom>
          <a:blipFill>
            <a:blip r:embed="rId5"/>
            <a:stretch>
              <a:fillRect/>
            </a:stretch>
          </a:blipFill>
        </p:spPr>
        <p:txBody>
          <a:bodyPr/>
          <a:lstStyle/>
          <a:p>
            <a:endParaRPr lang="ar-EG"/>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DFDBD"/>
        </a:solidFill>
        <a:effectLst/>
      </p:bgPr>
    </p:bg>
    <p:spTree>
      <p:nvGrpSpPr>
        <p:cNvPr id="1" name=""/>
        <p:cNvGrpSpPr/>
        <p:nvPr/>
      </p:nvGrpSpPr>
      <p:grpSpPr>
        <a:xfrm>
          <a:off x="0" y="0"/>
          <a:ext cx="0" cy="0"/>
          <a:chOff x="0" y="0"/>
          <a:chExt cx="0" cy="0"/>
        </a:xfrm>
      </p:grpSpPr>
      <p:sp>
        <p:nvSpPr>
          <p:cNvPr id="2" name="Freeform 2"/>
          <p:cNvSpPr/>
          <p:nvPr/>
        </p:nvSpPr>
        <p:spPr>
          <a:xfrm flipH="1">
            <a:off x="478995" y="6961488"/>
            <a:ext cx="2287900" cy="3712617"/>
          </a:xfrm>
          <a:custGeom>
            <a:avLst/>
            <a:gdLst/>
            <a:ahLst/>
            <a:cxnLst/>
            <a:rect l="l" t="t" r="r" b="b"/>
            <a:pathLst>
              <a:path w="2287900" h="3712617">
                <a:moveTo>
                  <a:pt x="2287900" y="0"/>
                </a:moveTo>
                <a:lnTo>
                  <a:pt x="0" y="0"/>
                </a:lnTo>
                <a:lnTo>
                  <a:pt x="0" y="3712617"/>
                </a:lnTo>
                <a:lnTo>
                  <a:pt x="2287900" y="3712617"/>
                </a:lnTo>
                <a:lnTo>
                  <a:pt x="22879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ar-EG"/>
          </a:p>
        </p:txBody>
      </p:sp>
      <p:sp>
        <p:nvSpPr>
          <p:cNvPr id="3" name="Freeform 3"/>
          <p:cNvSpPr/>
          <p:nvPr/>
        </p:nvSpPr>
        <p:spPr>
          <a:xfrm>
            <a:off x="-3507307" y="2940909"/>
            <a:ext cx="5978033" cy="1614069"/>
          </a:xfrm>
          <a:custGeom>
            <a:avLst/>
            <a:gdLst/>
            <a:ahLst/>
            <a:cxnLst/>
            <a:rect l="l" t="t" r="r" b="b"/>
            <a:pathLst>
              <a:path w="5978033" h="1614069">
                <a:moveTo>
                  <a:pt x="0" y="0"/>
                </a:moveTo>
                <a:lnTo>
                  <a:pt x="5978032" y="0"/>
                </a:lnTo>
                <a:lnTo>
                  <a:pt x="5978032" y="1614068"/>
                </a:lnTo>
                <a:lnTo>
                  <a:pt x="0" y="16140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EG"/>
          </a:p>
        </p:txBody>
      </p:sp>
      <p:sp>
        <p:nvSpPr>
          <p:cNvPr id="4" name="TextBox 4"/>
          <p:cNvSpPr txBox="1"/>
          <p:nvPr/>
        </p:nvSpPr>
        <p:spPr>
          <a:xfrm>
            <a:off x="828317" y="791184"/>
            <a:ext cx="4666817" cy="1064133"/>
          </a:xfrm>
          <a:prstGeom prst="rect">
            <a:avLst/>
          </a:prstGeom>
        </p:spPr>
        <p:txBody>
          <a:bodyPr lIns="0" tIns="0" rIns="0" bIns="0" rtlCol="0" anchor="t">
            <a:spAutoFit/>
          </a:bodyPr>
          <a:lstStyle/>
          <a:p>
            <a:pPr algn="l">
              <a:lnSpc>
                <a:spcPts val="7956"/>
              </a:lnSpc>
            </a:pPr>
            <a:r>
              <a:rPr lang="en-US" sz="7800">
                <a:solidFill>
                  <a:srgbClr val="000000"/>
                </a:solidFill>
                <a:latin typeface="Lilita One"/>
                <a:ea typeface="Lilita One"/>
                <a:cs typeface="Lilita One"/>
                <a:sym typeface="Lilita One"/>
              </a:rPr>
              <a:t>SOLUTION</a:t>
            </a:r>
          </a:p>
        </p:txBody>
      </p:sp>
      <p:sp>
        <p:nvSpPr>
          <p:cNvPr id="5" name="Freeform 5"/>
          <p:cNvSpPr/>
          <p:nvPr/>
        </p:nvSpPr>
        <p:spPr>
          <a:xfrm>
            <a:off x="14842957" y="2565558"/>
            <a:ext cx="5978033" cy="1614069"/>
          </a:xfrm>
          <a:custGeom>
            <a:avLst/>
            <a:gdLst/>
            <a:ahLst/>
            <a:cxnLst/>
            <a:rect l="l" t="t" r="r" b="b"/>
            <a:pathLst>
              <a:path w="5978033" h="1614069">
                <a:moveTo>
                  <a:pt x="0" y="0"/>
                </a:moveTo>
                <a:lnTo>
                  <a:pt x="5978032" y="0"/>
                </a:lnTo>
                <a:lnTo>
                  <a:pt x="5978032" y="1614069"/>
                </a:lnTo>
                <a:lnTo>
                  <a:pt x="0" y="161406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EG"/>
          </a:p>
        </p:txBody>
      </p:sp>
      <p:sp>
        <p:nvSpPr>
          <p:cNvPr id="6" name="Freeform 6"/>
          <p:cNvSpPr/>
          <p:nvPr/>
        </p:nvSpPr>
        <p:spPr>
          <a:xfrm flipH="1">
            <a:off x="10052766" y="3645503"/>
            <a:ext cx="7779206" cy="6641497"/>
          </a:xfrm>
          <a:custGeom>
            <a:avLst/>
            <a:gdLst/>
            <a:ahLst/>
            <a:cxnLst/>
            <a:rect l="l" t="t" r="r" b="b"/>
            <a:pathLst>
              <a:path w="7779206" h="6641497">
                <a:moveTo>
                  <a:pt x="7779207" y="0"/>
                </a:moveTo>
                <a:lnTo>
                  <a:pt x="0" y="0"/>
                </a:lnTo>
                <a:lnTo>
                  <a:pt x="0" y="6641497"/>
                </a:lnTo>
                <a:lnTo>
                  <a:pt x="7779207" y="6641497"/>
                </a:lnTo>
                <a:lnTo>
                  <a:pt x="7779207"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EG"/>
          </a:p>
        </p:txBody>
      </p:sp>
      <p:sp>
        <p:nvSpPr>
          <p:cNvPr id="7" name="TextBox 7"/>
          <p:cNvSpPr txBox="1"/>
          <p:nvPr/>
        </p:nvSpPr>
        <p:spPr>
          <a:xfrm>
            <a:off x="478995" y="2295839"/>
            <a:ext cx="10675003" cy="4243097"/>
          </a:xfrm>
          <a:prstGeom prst="rect">
            <a:avLst/>
          </a:prstGeom>
        </p:spPr>
        <p:txBody>
          <a:bodyPr lIns="0" tIns="0" rIns="0" bIns="0" rtlCol="0" anchor="t">
            <a:spAutoFit/>
          </a:bodyPr>
          <a:lstStyle/>
          <a:p>
            <a:pPr algn="l">
              <a:lnSpc>
                <a:spcPts val="3334"/>
              </a:lnSpc>
              <a:spcBef>
                <a:spcPct val="0"/>
              </a:spcBef>
            </a:pPr>
            <a:r>
              <a:rPr lang="en-US" sz="3268">
                <a:solidFill>
                  <a:srgbClr val="000000"/>
                </a:solidFill>
                <a:latin typeface="Sensei"/>
                <a:ea typeface="Sensei"/>
                <a:cs typeface="Sensei"/>
                <a:sym typeface="Sensei"/>
              </a:rPr>
              <a:t>"ENTER DALLA3 KERSHAK—THE DIGITAL FOOD COURT. WE ALLOW STUDENTS TO ORDER THEIR FOOD WHILE THEY ARE STILL SITTING IN THE LECTURE HALL. THEY OPEN THE APP, BROWSE THE MENUS, AND SCHEDULE AN EXACT PICKUP TIME. THEY PAY INSTANTLY THROUGH OUR CLOSED-LOOP DIGITAL WALLET. MEANWHILE, THE VENDOR RECEIVES THE ORDER ON A SIMPLE, FAST TABLET DASHBOARD. WHEN THE LECTURE ENDS, THE STUDENT WALKS DIRECTLY PAST THE MASSIVE LINE, PICKS UP THEIR HOT FOOD, AND LEAVES. WHAT USED TO TAKE 25 MINUTES NOW TAKES 30 SECONDS."</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FDBD"/>
        </a:solidFill>
        <a:effectLst/>
      </p:bgPr>
    </p:bg>
    <p:spTree>
      <p:nvGrpSpPr>
        <p:cNvPr id="1" name=""/>
        <p:cNvGrpSpPr/>
        <p:nvPr/>
      </p:nvGrpSpPr>
      <p:grpSpPr>
        <a:xfrm>
          <a:off x="0" y="0"/>
          <a:ext cx="0" cy="0"/>
          <a:chOff x="0" y="0"/>
          <a:chExt cx="0" cy="0"/>
        </a:xfrm>
      </p:grpSpPr>
      <p:sp>
        <p:nvSpPr>
          <p:cNvPr id="2" name="Freeform 2"/>
          <p:cNvSpPr/>
          <p:nvPr/>
        </p:nvSpPr>
        <p:spPr>
          <a:xfrm>
            <a:off x="-1122265" y="8515891"/>
            <a:ext cx="20532529" cy="4078770"/>
          </a:xfrm>
          <a:custGeom>
            <a:avLst/>
            <a:gdLst/>
            <a:ahLst/>
            <a:cxnLst/>
            <a:rect l="l" t="t" r="r" b="b"/>
            <a:pathLst>
              <a:path w="20532529" h="4078770">
                <a:moveTo>
                  <a:pt x="0" y="0"/>
                </a:moveTo>
                <a:lnTo>
                  <a:pt x="20532530" y="0"/>
                </a:lnTo>
                <a:lnTo>
                  <a:pt x="20532530" y="4078770"/>
                </a:lnTo>
                <a:lnTo>
                  <a:pt x="0" y="40787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ar-EG"/>
          </a:p>
        </p:txBody>
      </p:sp>
      <p:sp>
        <p:nvSpPr>
          <p:cNvPr id="3" name="Freeform 3"/>
          <p:cNvSpPr/>
          <p:nvPr/>
        </p:nvSpPr>
        <p:spPr>
          <a:xfrm>
            <a:off x="5707747" y="543501"/>
            <a:ext cx="7093197" cy="2562418"/>
          </a:xfrm>
          <a:custGeom>
            <a:avLst/>
            <a:gdLst/>
            <a:ahLst/>
            <a:cxnLst/>
            <a:rect l="l" t="t" r="r" b="b"/>
            <a:pathLst>
              <a:path w="7093197" h="2562418">
                <a:moveTo>
                  <a:pt x="0" y="0"/>
                </a:moveTo>
                <a:lnTo>
                  <a:pt x="7093197" y="0"/>
                </a:lnTo>
                <a:lnTo>
                  <a:pt x="7093197" y="2562417"/>
                </a:lnTo>
                <a:lnTo>
                  <a:pt x="0" y="256241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EG"/>
          </a:p>
        </p:txBody>
      </p:sp>
      <p:sp>
        <p:nvSpPr>
          <p:cNvPr id="4" name="Freeform 4"/>
          <p:cNvSpPr/>
          <p:nvPr/>
        </p:nvSpPr>
        <p:spPr>
          <a:xfrm>
            <a:off x="15089782" y="6795683"/>
            <a:ext cx="3198218" cy="3674353"/>
          </a:xfrm>
          <a:custGeom>
            <a:avLst/>
            <a:gdLst/>
            <a:ahLst/>
            <a:cxnLst/>
            <a:rect l="l" t="t" r="r" b="b"/>
            <a:pathLst>
              <a:path w="3198218" h="3674353">
                <a:moveTo>
                  <a:pt x="0" y="0"/>
                </a:moveTo>
                <a:lnTo>
                  <a:pt x="3198218" y="0"/>
                </a:lnTo>
                <a:lnTo>
                  <a:pt x="3198218" y="3674353"/>
                </a:lnTo>
                <a:lnTo>
                  <a:pt x="0" y="367435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EG"/>
          </a:p>
        </p:txBody>
      </p:sp>
      <p:sp>
        <p:nvSpPr>
          <p:cNvPr id="5" name="Freeform 5"/>
          <p:cNvSpPr/>
          <p:nvPr/>
        </p:nvSpPr>
        <p:spPr>
          <a:xfrm>
            <a:off x="14593412" y="208399"/>
            <a:ext cx="5978033" cy="1614069"/>
          </a:xfrm>
          <a:custGeom>
            <a:avLst/>
            <a:gdLst/>
            <a:ahLst/>
            <a:cxnLst/>
            <a:rect l="l" t="t" r="r" b="b"/>
            <a:pathLst>
              <a:path w="5978033" h="1614069">
                <a:moveTo>
                  <a:pt x="0" y="0"/>
                </a:moveTo>
                <a:lnTo>
                  <a:pt x="5978033" y="0"/>
                </a:lnTo>
                <a:lnTo>
                  <a:pt x="5978033" y="1614069"/>
                </a:lnTo>
                <a:lnTo>
                  <a:pt x="0" y="161406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EG"/>
          </a:p>
        </p:txBody>
      </p:sp>
      <p:sp>
        <p:nvSpPr>
          <p:cNvPr id="6" name="Freeform 6"/>
          <p:cNvSpPr/>
          <p:nvPr/>
        </p:nvSpPr>
        <p:spPr>
          <a:xfrm>
            <a:off x="-1770472" y="1314563"/>
            <a:ext cx="5978033" cy="1614069"/>
          </a:xfrm>
          <a:custGeom>
            <a:avLst/>
            <a:gdLst/>
            <a:ahLst/>
            <a:cxnLst/>
            <a:rect l="l" t="t" r="r" b="b"/>
            <a:pathLst>
              <a:path w="5978033" h="1614069">
                <a:moveTo>
                  <a:pt x="0" y="0"/>
                </a:moveTo>
                <a:lnTo>
                  <a:pt x="5978033" y="0"/>
                </a:lnTo>
                <a:lnTo>
                  <a:pt x="5978033" y="1614068"/>
                </a:lnTo>
                <a:lnTo>
                  <a:pt x="0" y="161406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EG"/>
          </a:p>
        </p:txBody>
      </p:sp>
      <p:sp>
        <p:nvSpPr>
          <p:cNvPr id="7" name="TextBox 7"/>
          <p:cNvSpPr txBox="1"/>
          <p:nvPr/>
        </p:nvSpPr>
        <p:spPr>
          <a:xfrm>
            <a:off x="1280617" y="3196851"/>
            <a:ext cx="15517217" cy="4050030"/>
          </a:xfrm>
          <a:prstGeom prst="rect">
            <a:avLst/>
          </a:prstGeom>
        </p:spPr>
        <p:txBody>
          <a:bodyPr lIns="0" tIns="0" rIns="0" bIns="0" rtlCol="0" anchor="t">
            <a:spAutoFit/>
          </a:bodyPr>
          <a:lstStyle/>
          <a:p>
            <a:pPr algn="ctr">
              <a:lnSpc>
                <a:spcPts val="4620"/>
              </a:lnSpc>
            </a:pPr>
            <a:r>
              <a:rPr lang="en-US" sz="3300">
                <a:solidFill>
                  <a:srgbClr val="000000"/>
                </a:solidFill>
                <a:latin typeface="Sensei"/>
                <a:ea typeface="Sensei"/>
                <a:cs typeface="Sensei"/>
                <a:sym typeface="Sensei"/>
              </a:rPr>
              <a:t>The market size here is incredibly dense. We aren't targeting a spread-out city; we are targeting thousands of students trapped in a single geographical area. At ECU alone, we have thousands of students who eat on campus almost every single day. Food is a daily, repeated habit. More importantly, this is a completely untapped niche. Once we perfect the model here at ECU, there are dozens of private universities in Egypt suffering from the exact same problem, allowing us to expand rapidly.</a:t>
            </a:r>
          </a:p>
        </p:txBody>
      </p:sp>
      <p:sp>
        <p:nvSpPr>
          <p:cNvPr id="8" name="TextBox 8"/>
          <p:cNvSpPr txBox="1"/>
          <p:nvPr/>
        </p:nvSpPr>
        <p:spPr>
          <a:xfrm>
            <a:off x="6036234" y="849731"/>
            <a:ext cx="6436222" cy="2073783"/>
          </a:xfrm>
          <a:prstGeom prst="rect">
            <a:avLst/>
          </a:prstGeom>
        </p:spPr>
        <p:txBody>
          <a:bodyPr lIns="0" tIns="0" rIns="0" bIns="0" rtlCol="0" anchor="t">
            <a:spAutoFit/>
          </a:bodyPr>
          <a:lstStyle/>
          <a:p>
            <a:pPr algn="ctr">
              <a:lnSpc>
                <a:spcPts val="7956"/>
              </a:lnSpc>
            </a:pPr>
            <a:r>
              <a:rPr lang="en-US" sz="7800">
                <a:solidFill>
                  <a:srgbClr val="FFFFFF"/>
                </a:solidFill>
                <a:latin typeface="Lilita One"/>
                <a:ea typeface="Lilita One"/>
                <a:cs typeface="Lilita One"/>
                <a:sym typeface="Lilita One"/>
              </a:rPr>
              <a:t>MARKET OPPORTUNITY</a:t>
            </a:r>
          </a:p>
        </p:txBody>
      </p:sp>
      <p:sp>
        <p:nvSpPr>
          <p:cNvPr id="9" name="Freeform 9"/>
          <p:cNvSpPr/>
          <p:nvPr/>
        </p:nvSpPr>
        <p:spPr>
          <a:xfrm flipH="1">
            <a:off x="0" y="7220626"/>
            <a:ext cx="3611362" cy="3066374"/>
          </a:xfrm>
          <a:custGeom>
            <a:avLst/>
            <a:gdLst/>
            <a:ahLst/>
            <a:cxnLst/>
            <a:rect l="l" t="t" r="r" b="b"/>
            <a:pathLst>
              <a:path w="3611362" h="3066374">
                <a:moveTo>
                  <a:pt x="3611362" y="0"/>
                </a:moveTo>
                <a:lnTo>
                  <a:pt x="0" y="0"/>
                </a:lnTo>
                <a:lnTo>
                  <a:pt x="0" y="3066374"/>
                </a:lnTo>
                <a:lnTo>
                  <a:pt x="3611362" y="3066374"/>
                </a:lnTo>
                <a:lnTo>
                  <a:pt x="3611362"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ar-EG"/>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DFDBD"/>
        </a:solidFill>
        <a:effectLst/>
      </p:bgPr>
    </p:bg>
    <p:spTree>
      <p:nvGrpSpPr>
        <p:cNvPr id="1" name=""/>
        <p:cNvGrpSpPr/>
        <p:nvPr/>
      </p:nvGrpSpPr>
      <p:grpSpPr>
        <a:xfrm>
          <a:off x="0" y="0"/>
          <a:ext cx="0" cy="0"/>
          <a:chOff x="0" y="0"/>
          <a:chExt cx="0" cy="0"/>
        </a:xfrm>
      </p:grpSpPr>
      <p:sp>
        <p:nvSpPr>
          <p:cNvPr id="2" name="Freeform 2"/>
          <p:cNvSpPr/>
          <p:nvPr/>
        </p:nvSpPr>
        <p:spPr>
          <a:xfrm>
            <a:off x="-1112740" y="9183775"/>
            <a:ext cx="20532529" cy="4078770"/>
          </a:xfrm>
          <a:custGeom>
            <a:avLst/>
            <a:gdLst/>
            <a:ahLst/>
            <a:cxnLst/>
            <a:rect l="l" t="t" r="r" b="b"/>
            <a:pathLst>
              <a:path w="20532529" h="4078770">
                <a:moveTo>
                  <a:pt x="0" y="0"/>
                </a:moveTo>
                <a:lnTo>
                  <a:pt x="20532530" y="0"/>
                </a:lnTo>
                <a:lnTo>
                  <a:pt x="20532530" y="4078770"/>
                </a:lnTo>
                <a:lnTo>
                  <a:pt x="0" y="40787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ar-EG"/>
          </a:p>
        </p:txBody>
      </p:sp>
      <p:sp>
        <p:nvSpPr>
          <p:cNvPr id="3" name="Freeform 3"/>
          <p:cNvSpPr/>
          <p:nvPr/>
        </p:nvSpPr>
        <p:spPr>
          <a:xfrm>
            <a:off x="5922754" y="402520"/>
            <a:ext cx="6579632" cy="2519451"/>
          </a:xfrm>
          <a:custGeom>
            <a:avLst/>
            <a:gdLst/>
            <a:ahLst/>
            <a:cxnLst/>
            <a:rect l="l" t="t" r="r" b="b"/>
            <a:pathLst>
              <a:path w="6579632" h="2519451">
                <a:moveTo>
                  <a:pt x="0" y="0"/>
                </a:moveTo>
                <a:lnTo>
                  <a:pt x="6579631" y="0"/>
                </a:lnTo>
                <a:lnTo>
                  <a:pt x="6579631" y="2519451"/>
                </a:lnTo>
                <a:lnTo>
                  <a:pt x="0" y="251945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EG"/>
          </a:p>
        </p:txBody>
      </p:sp>
      <p:sp>
        <p:nvSpPr>
          <p:cNvPr id="4" name="TextBox 4"/>
          <p:cNvSpPr txBox="1"/>
          <p:nvPr/>
        </p:nvSpPr>
        <p:spPr>
          <a:xfrm>
            <a:off x="7373570" y="838663"/>
            <a:ext cx="3863937" cy="1913737"/>
          </a:xfrm>
          <a:prstGeom prst="rect">
            <a:avLst/>
          </a:prstGeom>
        </p:spPr>
        <p:txBody>
          <a:bodyPr lIns="0" tIns="0" rIns="0" bIns="0" rtlCol="0" anchor="t">
            <a:spAutoFit/>
          </a:bodyPr>
          <a:lstStyle/>
          <a:p>
            <a:pPr algn="ctr">
              <a:lnSpc>
                <a:spcPts val="7342"/>
              </a:lnSpc>
            </a:pPr>
            <a:r>
              <a:rPr lang="en-US" sz="7198">
                <a:solidFill>
                  <a:srgbClr val="FFFFFF"/>
                </a:solidFill>
                <a:latin typeface="Lilita One"/>
                <a:ea typeface="Lilita One"/>
                <a:cs typeface="Lilita One"/>
                <a:sym typeface="Lilita One"/>
              </a:rPr>
              <a:t>Business Model</a:t>
            </a:r>
          </a:p>
        </p:txBody>
      </p:sp>
      <p:sp>
        <p:nvSpPr>
          <p:cNvPr id="5" name="TextBox 5"/>
          <p:cNvSpPr txBox="1"/>
          <p:nvPr/>
        </p:nvSpPr>
        <p:spPr>
          <a:xfrm>
            <a:off x="1389298" y="3115092"/>
            <a:ext cx="15870002" cy="3469005"/>
          </a:xfrm>
          <a:prstGeom prst="rect">
            <a:avLst/>
          </a:prstGeom>
        </p:spPr>
        <p:txBody>
          <a:bodyPr lIns="0" tIns="0" rIns="0" bIns="0" rtlCol="0" anchor="t">
            <a:spAutoFit/>
          </a:bodyPr>
          <a:lstStyle/>
          <a:p>
            <a:pPr algn="ctr">
              <a:lnSpc>
                <a:spcPts val="4620"/>
              </a:lnSpc>
            </a:pPr>
            <a:r>
              <a:rPr lang="en-US" sz="3300">
                <a:solidFill>
                  <a:srgbClr val="000000"/>
                </a:solidFill>
                <a:latin typeface="Sensei"/>
                <a:ea typeface="Sensei"/>
                <a:cs typeface="Sensei"/>
                <a:sym typeface="Sensei"/>
              </a:rPr>
              <a:t>Our business model is extremely lean and profitable because we have absolutely zero delivery logistics. We charge a flat, micro-commission of 5 EGP per completed order. It’s cheap enough that vendors won't push back, but highly lucrative at scale. In the future, we will unlock secondary revenue streams by charging vendors for promoted listings—allowing them to appear at the top of the app—and introducing subscription features for advanced vendor analytics.</a:t>
            </a:r>
          </a:p>
        </p:txBody>
      </p:sp>
      <p:sp>
        <p:nvSpPr>
          <p:cNvPr id="6" name="Freeform 6"/>
          <p:cNvSpPr/>
          <p:nvPr/>
        </p:nvSpPr>
        <p:spPr>
          <a:xfrm>
            <a:off x="15298984" y="436894"/>
            <a:ext cx="5978033" cy="1614069"/>
          </a:xfrm>
          <a:custGeom>
            <a:avLst/>
            <a:gdLst/>
            <a:ahLst/>
            <a:cxnLst/>
            <a:rect l="l" t="t" r="r" b="b"/>
            <a:pathLst>
              <a:path w="5978033" h="1614069">
                <a:moveTo>
                  <a:pt x="0" y="0"/>
                </a:moveTo>
                <a:lnTo>
                  <a:pt x="5978032" y="0"/>
                </a:lnTo>
                <a:lnTo>
                  <a:pt x="5978032" y="1614069"/>
                </a:lnTo>
                <a:lnTo>
                  <a:pt x="0" y="161406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EG"/>
          </a:p>
        </p:txBody>
      </p:sp>
      <p:sp>
        <p:nvSpPr>
          <p:cNvPr id="7" name="Freeform 7"/>
          <p:cNvSpPr/>
          <p:nvPr/>
        </p:nvSpPr>
        <p:spPr>
          <a:xfrm>
            <a:off x="12890333" y="6584097"/>
            <a:ext cx="5397667" cy="3896135"/>
          </a:xfrm>
          <a:custGeom>
            <a:avLst/>
            <a:gdLst/>
            <a:ahLst/>
            <a:cxnLst/>
            <a:rect l="l" t="t" r="r" b="b"/>
            <a:pathLst>
              <a:path w="5397667" h="3896135">
                <a:moveTo>
                  <a:pt x="0" y="0"/>
                </a:moveTo>
                <a:lnTo>
                  <a:pt x="5397667" y="0"/>
                </a:lnTo>
                <a:lnTo>
                  <a:pt x="5397667" y="3896134"/>
                </a:lnTo>
                <a:lnTo>
                  <a:pt x="0" y="389613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EG"/>
          </a:p>
        </p:txBody>
      </p:sp>
      <p:sp>
        <p:nvSpPr>
          <p:cNvPr id="8" name="Freeform 8"/>
          <p:cNvSpPr/>
          <p:nvPr/>
        </p:nvSpPr>
        <p:spPr>
          <a:xfrm flipH="1">
            <a:off x="245348" y="6574383"/>
            <a:ext cx="2287900" cy="3712617"/>
          </a:xfrm>
          <a:custGeom>
            <a:avLst/>
            <a:gdLst/>
            <a:ahLst/>
            <a:cxnLst/>
            <a:rect l="l" t="t" r="r" b="b"/>
            <a:pathLst>
              <a:path w="2287900" h="3712617">
                <a:moveTo>
                  <a:pt x="2287900" y="0"/>
                </a:moveTo>
                <a:lnTo>
                  <a:pt x="0" y="0"/>
                </a:lnTo>
                <a:lnTo>
                  <a:pt x="0" y="3712617"/>
                </a:lnTo>
                <a:lnTo>
                  <a:pt x="2287900" y="3712617"/>
                </a:lnTo>
                <a:lnTo>
                  <a:pt x="228790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ar-EG"/>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FDBD"/>
        </a:solidFill>
        <a:effectLst/>
      </p:bgPr>
    </p:bg>
    <p:spTree>
      <p:nvGrpSpPr>
        <p:cNvPr id="1" name=""/>
        <p:cNvGrpSpPr/>
        <p:nvPr/>
      </p:nvGrpSpPr>
      <p:grpSpPr>
        <a:xfrm>
          <a:off x="0" y="0"/>
          <a:ext cx="0" cy="0"/>
          <a:chOff x="0" y="0"/>
          <a:chExt cx="0" cy="0"/>
        </a:xfrm>
      </p:grpSpPr>
      <p:sp>
        <p:nvSpPr>
          <p:cNvPr id="2" name="Freeform 2"/>
          <p:cNvSpPr/>
          <p:nvPr/>
        </p:nvSpPr>
        <p:spPr>
          <a:xfrm>
            <a:off x="-1112740" y="9183775"/>
            <a:ext cx="20532529" cy="4078770"/>
          </a:xfrm>
          <a:custGeom>
            <a:avLst/>
            <a:gdLst/>
            <a:ahLst/>
            <a:cxnLst/>
            <a:rect l="l" t="t" r="r" b="b"/>
            <a:pathLst>
              <a:path w="20532529" h="4078770">
                <a:moveTo>
                  <a:pt x="0" y="0"/>
                </a:moveTo>
                <a:lnTo>
                  <a:pt x="20532530" y="0"/>
                </a:lnTo>
                <a:lnTo>
                  <a:pt x="20532530" y="4078770"/>
                </a:lnTo>
                <a:lnTo>
                  <a:pt x="0" y="40787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ar-EG"/>
          </a:p>
        </p:txBody>
      </p:sp>
      <p:sp>
        <p:nvSpPr>
          <p:cNvPr id="3" name="TextBox 3"/>
          <p:cNvSpPr txBox="1"/>
          <p:nvPr/>
        </p:nvSpPr>
        <p:spPr>
          <a:xfrm>
            <a:off x="3274631" y="269754"/>
            <a:ext cx="11738737" cy="974174"/>
          </a:xfrm>
          <a:prstGeom prst="rect">
            <a:avLst/>
          </a:prstGeom>
        </p:spPr>
        <p:txBody>
          <a:bodyPr lIns="0" tIns="0" rIns="0" bIns="0" rtlCol="0" anchor="t">
            <a:spAutoFit/>
          </a:bodyPr>
          <a:lstStyle/>
          <a:p>
            <a:pPr algn="ctr">
              <a:lnSpc>
                <a:spcPts val="7342"/>
              </a:lnSpc>
            </a:pPr>
            <a:r>
              <a:rPr lang="en-US" sz="7198">
                <a:solidFill>
                  <a:srgbClr val="A9552E"/>
                </a:solidFill>
                <a:latin typeface="Lilita One"/>
                <a:ea typeface="Lilita One"/>
                <a:cs typeface="Lilita One"/>
                <a:sym typeface="Lilita One"/>
              </a:rPr>
              <a:t> Business Model Canvas</a:t>
            </a:r>
          </a:p>
        </p:txBody>
      </p:sp>
      <p:sp>
        <p:nvSpPr>
          <p:cNvPr id="4" name="Freeform 4"/>
          <p:cNvSpPr/>
          <p:nvPr/>
        </p:nvSpPr>
        <p:spPr>
          <a:xfrm>
            <a:off x="15298984" y="436894"/>
            <a:ext cx="5978033" cy="1614069"/>
          </a:xfrm>
          <a:custGeom>
            <a:avLst/>
            <a:gdLst/>
            <a:ahLst/>
            <a:cxnLst/>
            <a:rect l="l" t="t" r="r" b="b"/>
            <a:pathLst>
              <a:path w="5978033" h="1614069">
                <a:moveTo>
                  <a:pt x="0" y="0"/>
                </a:moveTo>
                <a:lnTo>
                  <a:pt x="5978032" y="0"/>
                </a:lnTo>
                <a:lnTo>
                  <a:pt x="5978032" y="1614069"/>
                </a:lnTo>
                <a:lnTo>
                  <a:pt x="0" y="161406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EG"/>
          </a:p>
        </p:txBody>
      </p:sp>
      <p:sp>
        <p:nvSpPr>
          <p:cNvPr id="5" name="Freeform 5"/>
          <p:cNvSpPr/>
          <p:nvPr/>
        </p:nvSpPr>
        <p:spPr>
          <a:xfrm>
            <a:off x="1149964" y="1243929"/>
            <a:ext cx="15988073" cy="8993291"/>
          </a:xfrm>
          <a:custGeom>
            <a:avLst/>
            <a:gdLst/>
            <a:ahLst/>
            <a:cxnLst/>
            <a:rect l="l" t="t" r="r" b="b"/>
            <a:pathLst>
              <a:path w="15988073" h="8993291">
                <a:moveTo>
                  <a:pt x="0" y="0"/>
                </a:moveTo>
                <a:lnTo>
                  <a:pt x="15988072" y="0"/>
                </a:lnTo>
                <a:lnTo>
                  <a:pt x="15988072" y="8993290"/>
                </a:lnTo>
                <a:lnTo>
                  <a:pt x="0" y="8993290"/>
                </a:lnTo>
                <a:lnTo>
                  <a:pt x="0" y="0"/>
                </a:lnTo>
                <a:close/>
              </a:path>
            </a:pathLst>
          </a:custGeom>
          <a:blipFill>
            <a:blip r:embed="rId4"/>
            <a:stretch>
              <a:fillRect/>
            </a:stretch>
          </a:blipFill>
        </p:spPr>
        <p:txBody>
          <a:bodyPr/>
          <a:lstStyle/>
          <a:p>
            <a:endParaRPr lang="ar-EG"/>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DFDBD"/>
        </a:solidFill>
        <a:effectLst/>
      </p:bgPr>
    </p:bg>
    <p:spTree>
      <p:nvGrpSpPr>
        <p:cNvPr id="1" name=""/>
        <p:cNvGrpSpPr/>
        <p:nvPr/>
      </p:nvGrpSpPr>
      <p:grpSpPr>
        <a:xfrm>
          <a:off x="0" y="0"/>
          <a:ext cx="0" cy="0"/>
          <a:chOff x="0" y="0"/>
          <a:chExt cx="0" cy="0"/>
        </a:xfrm>
      </p:grpSpPr>
      <p:sp>
        <p:nvSpPr>
          <p:cNvPr id="2" name="Freeform 2"/>
          <p:cNvSpPr/>
          <p:nvPr/>
        </p:nvSpPr>
        <p:spPr>
          <a:xfrm>
            <a:off x="15065610" y="368961"/>
            <a:ext cx="5978033" cy="1614069"/>
          </a:xfrm>
          <a:custGeom>
            <a:avLst/>
            <a:gdLst/>
            <a:ahLst/>
            <a:cxnLst/>
            <a:rect l="l" t="t" r="r" b="b"/>
            <a:pathLst>
              <a:path w="5978033" h="1614069">
                <a:moveTo>
                  <a:pt x="0" y="0"/>
                </a:moveTo>
                <a:lnTo>
                  <a:pt x="5978033" y="0"/>
                </a:lnTo>
                <a:lnTo>
                  <a:pt x="5978033" y="1614069"/>
                </a:lnTo>
                <a:lnTo>
                  <a:pt x="0" y="161406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ar-EG"/>
          </a:p>
        </p:txBody>
      </p:sp>
      <p:sp>
        <p:nvSpPr>
          <p:cNvPr id="3" name="Freeform 3"/>
          <p:cNvSpPr/>
          <p:nvPr/>
        </p:nvSpPr>
        <p:spPr>
          <a:xfrm>
            <a:off x="-2755643" y="368961"/>
            <a:ext cx="5978033" cy="1614069"/>
          </a:xfrm>
          <a:custGeom>
            <a:avLst/>
            <a:gdLst/>
            <a:ahLst/>
            <a:cxnLst/>
            <a:rect l="l" t="t" r="r" b="b"/>
            <a:pathLst>
              <a:path w="5978033" h="1614069">
                <a:moveTo>
                  <a:pt x="0" y="0"/>
                </a:moveTo>
                <a:lnTo>
                  <a:pt x="5978033" y="0"/>
                </a:lnTo>
                <a:lnTo>
                  <a:pt x="5978033" y="1614069"/>
                </a:lnTo>
                <a:lnTo>
                  <a:pt x="0" y="161406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ar-EG"/>
          </a:p>
        </p:txBody>
      </p:sp>
      <p:sp>
        <p:nvSpPr>
          <p:cNvPr id="4" name="Freeform 4"/>
          <p:cNvSpPr/>
          <p:nvPr/>
        </p:nvSpPr>
        <p:spPr>
          <a:xfrm>
            <a:off x="-1112740" y="9183775"/>
            <a:ext cx="20532529" cy="4078770"/>
          </a:xfrm>
          <a:custGeom>
            <a:avLst/>
            <a:gdLst/>
            <a:ahLst/>
            <a:cxnLst/>
            <a:rect l="l" t="t" r="r" b="b"/>
            <a:pathLst>
              <a:path w="20532529" h="4078770">
                <a:moveTo>
                  <a:pt x="0" y="0"/>
                </a:moveTo>
                <a:lnTo>
                  <a:pt x="20532530" y="0"/>
                </a:lnTo>
                <a:lnTo>
                  <a:pt x="20532530" y="4078770"/>
                </a:lnTo>
                <a:lnTo>
                  <a:pt x="0" y="407877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EG"/>
          </a:p>
        </p:txBody>
      </p:sp>
      <p:sp>
        <p:nvSpPr>
          <p:cNvPr id="5" name="Freeform 5"/>
          <p:cNvSpPr/>
          <p:nvPr/>
        </p:nvSpPr>
        <p:spPr>
          <a:xfrm>
            <a:off x="0" y="6738404"/>
            <a:ext cx="3514588" cy="3548596"/>
          </a:xfrm>
          <a:custGeom>
            <a:avLst/>
            <a:gdLst/>
            <a:ahLst/>
            <a:cxnLst/>
            <a:rect l="l" t="t" r="r" b="b"/>
            <a:pathLst>
              <a:path w="3514588" h="3548596">
                <a:moveTo>
                  <a:pt x="0" y="0"/>
                </a:moveTo>
                <a:lnTo>
                  <a:pt x="3514588" y="0"/>
                </a:lnTo>
                <a:lnTo>
                  <a:pt x="3514588" y="3548596"/>
                </a:lnTo>
                <a:lnTo>
                  <a:pt x="0" y="354859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EG"/>
          </a:p>
        </p:txBody>
      </p:sp>
      <p:sp>
        <p:nvSpPr>
          <p:cNvPr id="6" name="Freeform 6"/>
          <p:cNvSpPr/>
          <p:nvPr/>
        </p:nvSpPr>
        <p:spPr>
          <a:xfrm>
            <a:off x="13868005" y="6478040"/>
            <a:ext cx="4954744" cy="3808960"/>
          </a:xfrm>
          <a:custGeom>
            <a:avLst/>
            <a:gdLst/>
            <a:ahLst/>
            <a:cxnLst/>
            <a:rect l="l" t="t" r="r" b="b"/>
            <a:pathLst>
              <a:path w="4954744" h="3808960">
                <a:moveTo>
                  <a:pt x="0" y="0"/>
                </a:moveTo>
                <a:lnTo>
                  <a:pt x="4954744" y="0"/>
                </a:lnTo>
                <a:lnTo>
                  <a:pt x="4954744" y="3808960"/>
                </a:lnTo>
                <a:lnTo>
                  <a:pt x="0" y="380896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EG"/>
          </a:p>
        </p:txBody>
      </p:sp>
      <p:sp>
        <p:nvSpPr>
          <p:cNvPr id="7" name="Freeform 7"/>
          <p:cNvSpPr/>
          <p:nvPr/>
        </p:nvSpPr>
        <p:spPr>
          <a:xfrm flipH="1">
            <a:off x="4192964" y="8076680"/>
            <a:ext cx="1172391" cy="2210320"/>
          </a:xfrm>
          <a:custGeom>
            <a:avLst/>
            <a:gdLst/>
            <a:ahLst/>
            <a:cxnLst/>
            <a:rect l="l" t="t" r="r" b="b"/>
            <a:pathLst>
              <a:path w="1172391" h="2210320">
                <a:moveTo>
                  <a:pt x="1172391" y="0"/>
                </a:moveTo>
                <a:lnTo>
                  <a:pt x="0" y="0"/>
                </a:lnTo>
                <a:lnTo>
                  <a:pt x="0" y="2210320"/>
                </a:lnTo>
                <a:lnTo>
                  <a:pt x="1172391" y="2210320"/>
                </a:lnTo>
                <a:lnTo>
                  <a:pt x="1172391"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ar-EG"/>
          </a:p>
        </p:txBody>
      </p:sp>
      <p:sp>
        <p:nvSpPr>
          <p:cNvPr id="8" name="TextBox 8"/>
          <p:cNvSpPr txBox="1"/>
          <p:nvPr/>
        </p:nvSpPr>
        <p:spPr>
          <a:xfrm>
            <a:off x="3750878" y="1008051"/>
            <a:ext cx="10805293" cy="2073783"/>
          </a:xfrm>
          <a:prstGeom prst="rect">
            <a:avLst/>
          </a:prstGeom>
        </p:spPr>
        <p:txBody>
          <a:bodyPr lIns="0" tIns="0" rIns="0" bIns="0" rtlCol="0" anchor="t">
            <a:spAutoFit/>
          </a:bodyPr>
          <a:lstStyle/>
          <a:p>
            <a:pPr algn="ctr">
              <a:lnSpc>
                <a:spcPts val="7956"/>
              </a:lnSpc>
            </a:pPr>
            <a:r>
              <a:rPr lang="en-US" sz="7800">
                <a:solidFill>
                  <a:srgbClr val="A9552E"/>
                </a:solidFill>
                <a:latin typeface="Lilita One"/>
                <a:ea typeface="Lilita One"/>
                <a:cs typeface="Lilita One"/>
                <a:sym typeface="Lilita One"/>
              </a:rPr>
              <a:t>GO-TO-MARKET STRATEGY</a:t>
            </a:r>
          </a:p>
        </p:txBody>
      </p:sp>
      <p:sp>
        <p:nvSpPr>
          <p:cNvPr id="9" name="TextBox 9"/>
          <p:cNvSpPr txBox="1"/>
          <p:nvPr/>
        </p:nvSpPr>
        <p:spPr>
          <a:xfrm>
            <a:off x="1385392" y="3226940"/>
            <a:ext cx="15517217" cy="3469005"/>
          </a:xfrm>
          <a:prstGeom prst="rect">
            <a:avLst/>
          </a:prstGeom>
        </p:spPr>
        <p:txBody>
          <a:bodyPr lIns="0" tIns="0" rIns="0" bIns="0" rtlCol="0" anchor="t">
            <a:spAutoFit/>
          </a:bodyPr>
          <a:lstStyle/>
          <a:p>
            <a:pPr algn="ctr">
              <a:lnSpc>
                <a:spcPts val="4620"/>
              </a:lnSpc>
            </a:pPr>
            <a:r>
              <a:rPr lang="en-US" sz="3300">
                <a:solidFill>
                  <a:srgbClr val="000000"/>
                </a:solidFill>
                <a:latin typeface="Sensei"/>
                <a:ea typeface="Sensei"/>
                <a:cs typeface="Sensei"/>
                <a:sym typeface="Sensei"/>
              </a:rPr>
              <a:t>To acquire users, we don't need expensive billboards. We know exactly where our users are. We will launch exclusively inside ECU to start. We are placing giant QR codes at every cafeteria. We are recruiting popular students to act as brand ambassadors, and we are running highly targeted, relatable TikTok campaigns showing the pain of waiting in line. We will also run physical activation booths on campus: 'Deposit 50 EGP into the app today, and we'll give you 55 EGP in credit.</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DFDBD"/>
        </a:solidFill>
        <a:effectLst/>
      </p:bgPr>
    </p:bg>
    <p:spTree>
      <p:nvGrpSpPr>
        <p:cNvPr id="1" name=""/>
        <p:cNvGrpSpPr/>
        <p:nvPr/>
      </p:nvGrpSpPr>
      <p:grpSpPr>
        <a:xfrm>
          <a:off x="0" y="0"/>
          <a:ext cx="0" cy="0"/>
          <a:chOff x="0" y="0"/>
          <a:chExt cx="0" cy="0"/>
        </a:xfrm>
      </p:grpSpPr>
      <p:sp>
        <p:nvSpPr>
          <p:cNvPr id="2" name="Freeform 2"/>
          <p:cNvSpPr/>
          <p:nvPr/>
        </p:nvSpPr>
        <p:spPr>
          <a:xfrm>
            <a:off x="6545179" y="-1396340"/>
            <a:ext cx="5197642" cy="4114800"/>
          </a:xfrm>
          <a:custGeom>
            <a:avLst/>
            <a:gdLst/>
            <a:ahLst/>
            <a:cxnLst/>
            <a:rect l="l" t="t" r="r" b="b"/>
            <a:pathLst>
              <a:path w="5197642" h="4114800">
                <a:moveTo>
                  <a:pt x="0" y="0"/>
                </a:moveTo>
                <a:lnTo>
                  <a:pt x="5197642" y="0"/>
                </a:lnTo>
                <a:lnTo>
                  <a:pt x="5197642"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ar-EG"/>
          </a:p>
        </p:txBody>
      </p:sp>
      <p:sp>
        <p:nvSpPr>
          <p:cNvPr id="3" name="TextBox 3"/>
          <p:cNvSpPr txBox="1"/>
          <p:nvPr/>
        </p:nvSpPr>
        <p:spPr>
          <a:xfrm>
            <a:off x="6545179" y="718210"/>
            <a:ext cx="5197642" cy="1510030"/>
          </a:xfrm>
          <a:prstGeom prst="rect">
            <a:avLst/>
          </a:prstGeom>
        </p:spPr>
        <p:txBody>
          <a:bodyPr lIns="0" tIns="0" rIns="0" bIns="0" rtlCol="0" anchor="t">
            <a:spAutoFit/>
          </a:bodyPr>
          <a:lstStyle/>
          <a:p>
            <a:pPr algn="ctr">
              <a:lnSpc>
                <a:spcPts val="6019"/>
              </a:lnSpc>
              <a:spcBef>
                <a:spcPct val="0"/>
              </a:spcBef>
            </a:pPr>
            <a:r>
              <a:rPr lang="en-US" sz="4299">
                <a:solidFill>
                  <a:srgbClr val="FFFFFF"/>
                </a:solidFill>
                <a:latin typeface="Sensei"/>
                <a:ea typeface="Sensei"/>
                <a:cs typeface="Sensei"/>
                <a:sym typeface="Sensei"/>
              </a:rPr>
              <a:t>Competition &amp;</a:t>
            </a:r>
          </a:p>
          <a:p>
            <a:pPr algn="ctr">
              <a:lnSpc>
                <a:spcPts val="6019"/>
              </a:lnSpc>
              <a:spcBef>
                <a:spcPct val="0"/>
              </a:spcBef>
            </a:pPr>
            <a:r>
              <a:rPr lang="en-US" sz="4299">
                <a:solidFill>
                  <a:srgbClr val="FFFFFF"/>
                </a:solidFill>
                <a:latin typeface="Sensei"/>
                <a:ea typeface="Sensei"/>
                <a:cs typeface="Sensei"/>
                <a:sym typeface="Sensei"/>
              </a:rPr>
              <a:t> Differentiation</a:t>
            </a:r>
          </a:p>
        </p:txBody>
      </p:sp>
      <p:sp>
        <p:nvSpPr>
          <p:cNvPr id="4" name="Freeform 4"/>
          <p:cNvSpPr/>
          <p:nvPr/>
        </p:nvSpPr>
        <p:spPr>
          <a:xfrm>
            <a:off x="-964897" y="3936645"/>
            <a:ext cx="8775616" cy="6350355"/>
          </a:xfrm>
          <a:custGeom>
            <a:avLst/>
            <a:gdLst/>
            <a:ahLst/>
            <a:cxnLst/>
            <a:rect l="l" t="t" r="r" b="b"/>
            <a:pathLst>
              <a:path w="8775616" h="6350355">
                <a:moveTo>
                  <a:pt x="0" y="0"/>
                </a:moveTo>
                <a:lnTo>
                  <a:pt x="8775615" y="0"/>
                </a:lnTo>
                <a:lnTo>
                  <a:pt x="8775615" y="6350355"/>
                </a:lnTo>
                <a:lnTo>
                  <a:pt x="0" y="635035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EG"/>
          </a:p>
        </p:txBody>
      </p:sp>
      <p:sp>
        <p:nvSpPr>
          <p:cNvPr id="5" name="TextBox 5"/>
          <p:cNvSpPr txBox="1"/>
          <p:nvPr/>
        </p:nvSpPr>
        <p:spPr>
          <a:xfrm>
            <a:off x="6973058" y="2872515"/>
            <a:ext cx="9539526" cy="3796030"/>
          </a:xfrm>
          <a:prstGeom prst="rect">
            <a:avLst/>
          </a:prstGeom>
        </p:spPr>
        <p:txBody>
          <a:bodyPr lIns="0" tIns="0" rIns="0" bIns="0" rtlCol="0" anchor="t">
            <a:spAutoFit/>
          </a:bodyPr>
          <a:lstStyle/>
          <a:p>
            <a:pPr marL="928369" lvl="1" indent="-464185" algn="l">
              <a:lnSpc>
                <a:spcPts val="6019"/>
              </a:lnSpc>
              <a:buFont typeface="Arial"/>
              <a:buChar char="•"/>
            </a:pPr>
            <a:r>
              <a:rPr lang="en-US" sz="4299">
                <a:solidFill>
                  <a:srgbClr val="000000"/>
                </a:solidFill>
                <a:latin typeface="Sensei"/>
                <a:ea typeface="Sensei"/>
                <a:cs typeface="Sensei"/>
                <a:sym typeface="Sensei"/>
              </a:rPr>
              <a:t>Talabat = delivery (not campus-fit)</a:t>
            </a:r>
          </a:p>
          <a:p>
            <a:pPr marL="928369" lvl="1" indent="-464185" algn="l">
              <a:lnSpc>
                <a:spcPts val="6019"/>
              </a:lnSpc>
              <a:buFont typeface="Arial"/>
              <a:buChar char="•"/>
            </a:pPr>
            <a:r>
              <a:rPr lang="en-US" sz="4299">
                <a:solidFill>
                  <a:srgbClr val="000000"/>
                </a:solidFill>
                <a:latin typeface="Sensei"/>
                <a:ea typeface="Sensei"/>
                <a:cs typeface="Sensei"/>
                <a:sym typeface="Sensei"/>
              </a:rPr>
              <a:t>Pickup-only model</a:t>
            </a:r>
          </a:p>
          <a:p>
            <a:pPr marL="928369" lvl="1" indent="-464185" algn="l">
              <a:lnSpc>
                <a:spcPts val="6019"/>
              </a:lnSpc>
              <a:buFont typeface="Arial"/>
              <a:buChar char="•"/>
            </a:pPr>
            <a:r>
              <a:rPr lang="en-US" sz="4299">
                <a:solidFill>
                  <a:srgbClr val="000000"/>
                </a:solidFill>
                <a:latin typeface="Sensei"/>
                <a:ea typeface="Sensei"/>
                <a:cs typeface="Sensei"/>
                <a:sym typeface="Sensei"/>
              </a:rPr>
              <a:t>Faster + cheaper experience</a:t>
            </a:r>
          </a:p>
          <a:p>
            <a:pPr marL="928369" lvl="1" indent="-464185" algn="l">
              <a:lnSpc>
                <a:spcPts val="6019"/>
              </a:lnSpc>
              <a:buFont typeface="Arial"/>
              <a:buChar char="•"/>
            </a:pPr>
            <a:r>
              <a:rPr lang="en-US" sz="4299">
                <a:solidFill>
                  <a:srgbClr val="000000"/>
                </a:solidFill>
                <a:latin typeface="Sensei"/>
                <a:ea typeface="Sensei"/>
                <a:cs typeface="Sensei"/>
                <a:sym typeface="Sensei"/>
              </a:rPr>
              <a:t>No logistics complexity</a:t>
            </a:r>
          </a:p>
          <a:p>
            <a:pPr marL="928369" lvl="1" indent="-464185" algn="l">
              <a:lnSpc>
                <a:spcPts val="6019"/>
              </a:lnSpc>
              <a:buFont typeface="Arial"/>
              <a:buChar char="•"/>
            </a:pPr>
            <a:r>
              <a:rPr lang="en-US" sz="4299">
                <a:solidFill>
                  <a:srgbClr val="000000"/>
                </a:solidFill>
                <a:latin typeface="Sensei"/>
                <a:ea typeface="Sensei"/>
                <a:cs typeface="Sensei"/>
                <a:sym typeface="Sensei"/>
              </a:rPr>
              <a:t>First mover in Egypt</a:t>
            </a:r>
          </a:p>
        </p:txBody>
      </p:sp>
      <p:sp>
        <p:nvSpPr>
          <p:cNvPr id="6" name="TextBox 6"/>
          <p:cNvSpPr txBox="1"/>
          <p:nvPr/>
        </p:nvSpPr>
        <p:spPr>
          <a:xfrm>
            <a:off x="7810718" y="7064198"/>
            <a:ext cx="10009779" cy="2334895"/>
          </a:xfrm>
          <a:prstGeom prst="rect">
            <a:avLst/>
          </a:prstGeom>
        </p:spPr>
        <p:txBody>
          <a:bodyPr lIns="0" tIns="0" rIns="0" bIns="0" rtlCol="0" anchor="t">
            <a:spAutoFit/>
          </a:bodyPr>
          <a:lstStyle/>
          <a:p>
            <a:pPr algn="ctr">
              <a:lnSpc>
                <a:spcPts val="3079"/>
              </a:lnSpc>
              <a:spcBef>
                <a:spcPct val="0"/>
              </a:spcBef>
            </a:pPr>
            <a:r>
              <a:rPr lang="en-US" sz="2199">
                <a:solidFill>
                  <a:srgbClr val="000000"/>
                </a:solidFill>
                <a:latin typeface="Sensei"/>
                <a:ea typeface="Sensei"/>
                <a:cs typeface="Sensei"/>
                <a:sym typeface="Sensei"/>
              </a:rPr>
              <a:t>You might be wondering: Why not just use Talabat or Elmenus? Because those apps are built for delivery, not campuses. Delivery drivers aren't allowed past university security gates, and an order takes 45 minutes. Dalla3 Kershak is hyper-localized. We are built specifically for campus behavior: pickup-only, zero delivery fees, and zero fleet logistics. We have the first-mover advantage in this highly specific niche.</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DFDBD"/>
        </a:solidFill>
        <a:effectLst/>
      </p:bgPr>
    </p:bg>
    <p:spTree>
      <p:nvGrpSpPr>
        <p:cNvPr id="1" name=""/>
        <p:cNvGrpSpPr/>
        <p:nvPr/>
      </p:nvGrpSpPr>
      <p:grpSpPr>
        <a:xfrm>
          <a:off x="0" y="0"/>
          <a:ext cx="0" cy="0"/>
          <a:chOff x="0" y="0"/>
          <a:chExt cx="0" cy="0"/>
        </a:xfrm>
      </p:grpSpPr>
      <p:sp>
        <p:nvSpPr>
          <p:cNvPr id="2" name="Freeform 2"/>
          <p:cNvSpPr/>
          <p:nvPr/>
        </p:nvSpPr>
        <p:spPr>
          <a:xfrm>
            <a:off x="15038080" y="191808"/>
            <a:ext cx="5978033" cy="1614069"/>
          </a:xfrm>
          <a:custGeom>
            <a:avLst/>
            <a:gdLst/>
            <a:ahLst/>
            <a:cxnLst/>
            <a:rect l="l" t="t" r="r" b="b"/>
            <a:pathLst>
              <a:path w="5978033" h="1614069">
                <a:moveTo>
                  <a:pt x="0" y="0"/>
                </a:moveTo>
                <a:lnTo>
                  <a:pt x="5978033" y="0"/>
                </a:lnTo>
                <a:lnTo>
                  <a:pt x="5978033" y="1614068"/>
                </a:lnTo>
                <a:lnTo>
                  <a:pt x="0" y="161406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ar-EG"/>
          </a:p>
        </p:txBody>
      </p:sp>
      <p:sp>
        <p:nvSpPr>
          <p:cNvPr id="3" name="Freeform 3"/>
          <p:cNvSpPr/>
          <p:nvPr/>
        </p:nvSpPr>
        <p:spPr>
          <a:xfrm>
            <a:off x="-2989016" y="1278887"/>
            <a:ext cx="5978033" cy="1614069"/>
          </a:xfrm>
          <a:custGeom>
            <a:avLst/>
            <a:gdLst/>
            <a:ahLst/>
            <a:cxnLst/>
            <a:rect l="l" t="t" r="r" b="b"/>
            <a:pathLst>
              <a:path w="5978033" h="1614069">
                <a:moveTo>
                  <a:pt x="0" y="0"/>
                </a:moveTo>
                <a:lnTo>
                  <a:pt x="5978032" y="0"/>
                </a:lnTo>
                <a:lnTo>
                  <a:pt x="5978032" y="1614069"/>
                </a:lnTo>
                <a:lnTo>
                  <a:pt x="0" y="161406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ar-EG"/>
          </a:p>
        </p:txBody>
      </p:sp>
      <p:sp>
        <p:nvSpPr>
          <p:cNvPr id="4" name="Freeform 4"/>
          <p:cNvSpPr/>
          <p:nvPr/>
        </p:nvSpPr>
        <p:spPr>
          <a:xfrm>
            <a:off x="-892504" y="9258300"/>
            <a:ext cx="20532529" cy="4078770"/>
          </a:xfrm>
          <a:custGeom>
            <a:avLst/>
            <a:gdLst/>
            <a:ahLst/>
            <a:cxnLst/>
            <a:rect l="l" t="t" r="r" b="b"/>
            <a:pathLst>
              <a:path w="20532529" h="4078770">
                <a:moveTo>
                  <a:pt x="0" y="0"/>
                </a:moveTo>
                <a:lnTo>
                  <a:pt x="20532530" y="0"/>
                </a:lnTo>
                <a:lnTo>
                  <a:pt x="20532530" y="4078770"/>
                </a:lnTo>
                <a:lnTo>
                  <a:pt x="0" y="407877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EG"/>
          </a:p>
        </p:txBody>
      </p:sp>
      <p:sp>
        <p:nvSpPr>
          <p:cNvPr id="5" name="Freeform 5"/>
          <p:cNvSpPr/>
          <p:nvPr/>
        </p:nvSpPr>
        <p:spPr>
          <a:xfrm>
            <a:off x="-190802" y="7687650"/>
            <a:ext cx="2439005" cy="2795421"/>
          </a:xfrm>
          <a:custGeom>
            <a:avLst/>
            <a:gdLst/>
            <a:ahLst/>
            <a:cxnLst/>
            <a:rect l="l" t="t" r="r" b="b"/>
            <a:pathLst>
              <a:path w="2439005" h="2795421">
                <a:moveTo>
                  <a:pt x="0" y="0"/>
                </a:moveTo>
                <a:lnTo>
                  <a:pt x="2439004" y="0"/>
                </a:lnTo>
                <a:lnTo>
                  <a:pt x="2439004" y="2795421"/>
                </a:lnTo>
                <a:lnTo>
                  <a:pt x="0" y="279542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EG"/>
          </a:p>
        </p:txBody>
      </p:sp>
      <p:sp>
        <p:nvSpPr>
          <p:cNvPr id="6" name="Freeform 6"/>
          <p:cNvSpPr/>
          <p:nvPr/>
        </p:nvSpPr>
        <p:spPr>
          <a:xfrm>
            <a:off x="-190802" y="7742200"/>
            <a:ext cx="3536571" cy="2686321"/>
          </a:xfrm>
          <a:custGeom>
            <a:avLst/>
            <a:gdLst/>
            <a:ahLst/>
            <a:cxnLst/>
            <a:rect l="l" t="t" r="r" b="b"/>
            <a:pathLst>
              <a:path w="3536571" h="2686321">
                <a:moveTo>
                  <a:pt x="0" y="0"/>
                </a:moveTo>
                <a:lnTo>
                  <a:pt x="3536571" y="0"/>
                </a:lnTo>
                <a:lnTo>
                  <a:pt x="3536571" y="2686320"/>
                </a:lnTo>
                <a:lnTo>
                  <a:pt x="0" y="268632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EG"/>
          </a:p>
        </p:txBody>
      </p:sp>
      <p:sp>
        <p:nvSpPr>
          <p:cNvPr id="7" name="Freeform 7"/>
          <p:cNvSpPr/>
          <p:nvPr/>
        </p:nvSpPr>
        <p:spPr>
          <a:xfrm>
            <a:off x="6545179" y="-1396340"/>
            <a:ext cx="5197642" cy="4114800"/>
          </a:xfrm>
          <a:custGeom>
            <a:avLst/>
            <a:gdLst/>
            <a:ahLst/>
            <a:cxnLst/>
            <a:rect l="l" t="t" r="r" b="b"/>
            <a:pathLst>
              <a:path w="5197642" h="4114800">
                <a:moveTo>
                  <a:pt x="0" y="0"/>
                </a:moveTo>
                <a:lnTo>
                  <a:pt x="5197642" y="0"/>
                </a:lnTo>
                <a:lnTo>
                  <a:pt x="5197642" y="4114800"/>
                </a:lnTo>
                <a:lnTo>
                  <a:pt x="0" y="4114800"/>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ar-EG"/>
          </a:p>
        </p:txBody>
      </p:sp>
      <p:sp>
        <p:nvSpPr>
          <p:cNvPr id="8" name="TextBox 8"/>
          <p:cNvSpPr txBox="1"/>
          <p:nvPr/>
        </p:nvSpPr>
        <p:spPr>
          <a:xfrm>
            <a:off x="6036234" y="1122667"/>
            <a:ext cx="6215532" cy="1052210"/>
          </a:xfrm>
          <a:prstGeom prst="rect">
            <a:avLst/>
          </a:prstGeom>
        </p:spPr>
        <p:txBody>
          <a:bodyPr lIns="0" tIns="0" rIns="0" bIns="0" rtlCol="0" anchor="t">
            <a:spAutoFit/>
          </a:bodyPr>
          <a:lstStyle/>
          <a:p>
            <a:pPr algn="ctr">
              <a:lnSpc>
                <a:spcPts val="7932"/>
              </a:lnSpc>
            </a:pPr>
            <a:r>
              <a:rPr lang="en-US" sz="7776">
                <a:solidFill>
                  <a:srgbClr val="FFFFFF"/>
                </a:solidFill>
                <a:latin typeface="Lilita One"/>
                <a:ea typeface="Lilita One"/>
                <a:cs typeface="Lilita One"/>
                <a:sym typeface="Lilita One"/>
              </a:rPr>
              <a:t>Financials</a:t>
            </a:r>
          </a:p>
        </p:txBody>
      </p:sp>
      <p:sp>
        <p:nvSpPr>
          <p:cNvPr id="9" name="Freeform 9"/>
          <p:cNvSpPr/>
          <p:nvPr/>
        </p:nvSpPr>
        <p:spPr>
          <a:xfrm flipH="1">
            <a:off x="16041581" y="7493623"/>
            <a:ext cx="2437222" cy="2793377"/>
          </a:xfrm>
          <a:custGeom>
            <a:avLst/>
            <a:gdLst/>
            <a:ahLst/>
            <a:cxnLst/>
            <a:rect l="l" t="t" r="r" b="b"/>
            <a:pathLst>
              <a:path w="2437222" h="2793377">
                <a:moveTo>
                  <a:pt x="2437221" y="0"/>
                </a:moveTo>
                <a:lnTo>
                  <a:pt x="0" y="0"/>
                </a:lnTo>
                <a:lnTo>
                  <a:pt x="0" y="2793377"/>
                </a:lnTo>
                <a:lnTo>
                  <a:pt x="2437221" y="2793377"/>
                </a:lnTo>
                <a:lnTo>
                  <a:pt x="2437221"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EG"/>
          </a:p>
        </p:txBody>
      </p:sp>
      <p:sp>
        <p:nvSpPr>
          <p:cNvPr id="10" name="Freeform 10"/>
          <p:cNvSpPr/>
          <p:nvPr/>
        </p:nvSpPr>
        <p:spPr>
          <a:xfrm>
            <a:off x="14409212" y="7687650"/>
            <a:ext cx="4069590" cy="2518059"/>
          </a:xfrm>
          <a:custGeom>
            <a:avLst/>
            <a:gdLst/>
            <a:ahLst/>
            <a:cxnLst/>
            <a:rect l="l" t="t" r="r" b="b"/>
            <a:pathLst>
              <a:path w="4069590" h="2518059">
                <a:moveTo>
                  <a:pt x="0" y="0"/>
                </a:moveTo>
                <a:lnTo>
                  <a:pt x="4069590" y="0"/>
                </a:lnTo>
                <a:lnTo>
                  <a:pt x="4069590" y="2518058"/>
                </a:lnTo>
                <a:lnTo>
                  <a:pt x="0" y="2518058"/>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ar-EG"/>
          </a:p>
        </p:txBody>
      </p:sp>
      <p:sp>
        <p:nvSpPr>
          <p:cNvPr id="11" name="TextBox 11"/>
          <p:cNvSpPr txBox="1"/>
          <p:nvPr/>
        </p:nvSpPr>
        <p:spPr>
          <a:xfrm>
            <a:off x="1939394" y="3160078"/>
            <a:ext cx="14409212" cy="3909695"/>
          </a:xfrm>
          <a:prstGeom prst="rect">
            <a:avLst/>
          </a:prstGeom>
        </p:spPr>
        <p:txBody>
          <a:bodyPr lIns="0" tIns="0" rIns="0" bIns="0" rtlCol="0" anchor="t">
            <a:spAutoFit/>
          </a:bodyPr>
          <a:lstStyle/>
          <a:p>
            <a:pPr algn="ctr">
              <a:lnSpc>
                <a:spcPts val="4480"/>
              </a:lnSpc>
              <a:spcBef>
                <a:spcPct val="0"/>
              </a:spcBef>
            </a:pPr>
            <a:r>
              <a:rPr lang="en-US" sz="3200">
                <a:solidFill>
                  <a:srgbClr val="000000"/>
                </a:solidFill>
                <a:latin typeface="Sensei"/>
                <a:ea typeface="Sensei"/>
                <a:cs typeface="Sensei"/>
                <a:sym typeface="Sensei"/>
              </a:rPr>
              <a:t>Because we don’t pay drivers, our operational costs are very low. Based on our projections, capturing a limited number of daily orders at ECU will generate around 30,000 to 35,000 EGP in commission revenue in Year 1. As we gradually expand to two or three additional campuses in Year 2, revenue increases to around 70,000 to 80,000 EGP, and reaches approximately 90,000 to 100,000 EGP in Year 3. Since our primary costs are limited to server hosting and targeted marketing, we expect to reach break-even relatively early after launch.</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DFDBD"/>
        </a:solidFill>
        <a:effectLst/>
      </p:bgPr>
    </p:bg>
    <p:spTree>
      <p:nvGrpSpPr>
        <p:cNvPr id="1" name=""/>
        <p:cNvGrpSpPr/>
        <p:nvPr/>
      </p:nvGrpSpPr>
      <p:grpSpPr>
        <a:xfrm>
          <a:off x="0" y="0"/>
          <a:ext cx="0" cy="0"/>
          <a:chOff x="0" y="0"/>
          <a:chExt cx="0" cy="0"/>
        </a:xfrm>
      </p:grpSpPr>
      <p:sp>
        <p:nvSpPr>
          <p:cNvPr id="2" name="Freeform 2"/>
          <p:cNvSpPr/>
          <p:nvPr/>
        </p:nvSpPr>
        <p:spPr>
          <a:xfrm>
            <a:off x="5486400" y="727326"/>
            <a:ext cx="7315200" cy="1435608"/>
          </a:xfrm>
          <a:custGeom>
            <a:avLst/>
            <a:gdLst/>
            <a:ahLst/>
            <a:cxnLst/>
            <a:rect l="l" t="t" r="r" b="b"/>
            <a:pathLst>
              <a:path w="7315200" h="1435608">
                <a:moveTo>
                  <a:pt x="0" y="0"/>
                </a:moveTo>
                <a:lnTo>
                  <a:pt x="7315200" y="0"/>
                </a:lnTo>
                <a:lnTo>
                  <a:pt x="7315200" y="1435608"/>
                </a:lnTo>
                <a:lnTo>
                  <a:pt x="0" y="143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ar-EG"/>
          </a:p>
        </p:txBody>
      </p:sp>
      <p:sp>
        <p:nvSpPr>
          <p:cNvPr id="3" name="Freeform 3"/>
          <p:cNvSpPr/>
          <p:nvPr/>
        </p:nvSpPr>
        <p:spPr>
          <a:xfrm>
            <a:off x="-988915" y="9258300"/>
            <a:ext cx="20532529" cy="4078770"/>
          </a:xfrm>
          <a:custGeom>
            <a:avLst/>
            <a:gdLst/>
            <a:ahLst/>
            <a:cxnLst/>
            <a:rect l="l" t="t" r="r" b="b"/>
            <a:pathLst>
              <a:path w="20532529" h="4078770">
                <a:moveTo>
                  <a:pt x="0" y="0"/>
                </a:moveTo>
                <a:lnTo>
                  <a:pt x="20532530" y="0"/>
                </a:lnTo>
                <a:lnTo>
                  <a:pt x="20532530" y="4078770"/>
                </a:lnTo>
                <a:lnTo>
                  <a:pt x="0" y="407877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EG"/>
          </a:p>
        </p:txBody>
      </p:sp>
      <p:sp>
        <p:nvSpPr>
          <p:cNvPr id="4" name="Freeform 4"/>
          <p:cNvSpPr/>
          <p:nvPr/>
        </p:nvSpPr>
        <p:spPr>
          <a:xfrm>
            <a:off x="15855787" y="7084480"/>
            <a:ext cx="2713128" cy="3285321"/>
          </a:xfrm>
          <a:custGeom>
            <a:avLst/>
            <a:gdLst/>
            <a:ahLst/>
            <a:cxnLst/>
            <a:rect l="l" t="t" r="r" b="b"/>
            <a:pathLst>
              <a:path w="2713128" h="3285321">
                <a:moveTo>
                  <a:pt x="0" y="0"/>
                </a:moveTo>
                <a:lnTo>
                  <a:pt x="2713128" y="0"/>
                </a:lnTo>
                <a:lnTo>
                  <a:pt x="2713128" y="3285321"/>
                </a:lnTo>
                <a:lnTo>
                  <a:pt x="0" y="328532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EG"/>
          </a:p>
        </p:txBody>
      </p:sp>
      <p:sp>
        <p:nvSpPr>
          <p:cNvPr id="5" name="Freeform 5"/>
          <p:cNvSpPr/>
          <p:nvPr/>
        </p:nvSpPr>
        <p:spPr>
          <a:xfrm>
            <a:off x="0" y="8084716"/>
            <a:ext cx="2258753" cy="2202284"/>
          </a:xfrm>
          <a:custGeom>
            <a:avLst/>
            <a:gdLst/>
            <a:ahLst/>
            <a:cxnLst/>
            <a:rect l="l" t="t" r="r" b="b"/>
            <a:pathLst>
              <a:path w="2258753" h="2202284">
                <a:moveTo>
                  <a:pt x="0" y="0"/>
                </a:moveTo>
                <a:lnTo>
                  <a:pt x="2258753" y="0"/>
                </a:lnTo>
                <a:lnTo>
                  <a:pt x="2258753" y="2202284"/>
                </a:lnTo>
                <a:lnTo>
                  <a:pt x="0" y="220228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EG"/>
          </a:p>
        </p:txBody>
      </p:sp>
      <p:sp>
        <p:nvSpPr>
          <p:cNvPr id="6" name="TextBox 6"/>
          <p:cNvSpPr txBox="1"/>
          <p:nvPr/>
        </p:nvSpPr>
        <p:spPr>
          <a:xfrm>
            <a:off x="6036234" y="980971"/>
            <a:ext cx="6215532" cy="1054077"/>
          </a:xfrm>
          <a:prstGeom prst="rect">
            <a:avLst/>
          </a:prstGeom>
        </p:spPr>
        <p:txBody>
          <a:bodyPr lIns="0" tIns="0" rIns="0" bIns="0" rtlCol="0" anchor="t">
            <a:spAutoFit/>
          </a:bodyPr>
          <a:lstStyle/>
          <a:p>
            <a:pPr algn="ctr">
              <a:lnSpc>
                <a:spcPts val="7932"/>
              </a:lnSpc>
            </a:pPr>
            <a:r>
              <a:rPr lang="en-US" sz="7776">
                <a:solidFill>
                  <a:srgbClr val="FFFFFF"/>
                </a:solidFill>
                <a:latin typeface="Lilita One"/>
                <a:ea typeface="Lilita One"/>
                <a:cs typeface="Lilita One"/>
                <a:sym typeface="Lilita One"/>
              </a:rPr>
              <a:t>The Ask</a:t>
            </a:r>
          </a:p>
        </p:txBody>
      </p:sp>
      <p:sp>
        <p:nvSpPr>
          <p:cNvPr id="7" name="TextBox 7"/>
          <p:cNvSpPr txBox="1"/>
          <p:nvPr/>
        </p:nvSpPr>
        <p:spPr>
          <a:xfrm>
            <a:off x="1208999" y="2453425"/>
            <a:ext cx="15870002" cy="5549900"/>
          </a:xfrm>
          <a:prstGeom prst="rect">
            <a:avLst/>
          </a:prstGeom>
        </p:spPr>
        <p:txBody>
          <a:bodyPr lIns="0" tIns="0" rIns="0" bIns="0" rtlCol="0" anchor="t">
            <a:spAutoFit/>
          </a:bodyPr>
          <a:lstStyle/>
          <a:p>
            <a:pPr algn="l">
              <a:lnSpc>
                <a:spcPts val="4899"/>
              </a:lnSpc>
            </a:pPr>
            <a:r>
              <a:rPr lang="en-US" sz="3499">
                <a:solidFill>
                  <a:srgbClr val="000000"/>
                </a:solidFill>
                <a:latin typeface="Sensei"/>
                <a:ea typeface="Sensei"/>
                <a:cs typeface="Sensei"/>
                <a:sym typeface="Sensei"/>
              </a:rPr>
              <a:t>We are seeking an initial investment between 50,000 and 100,000 EGP. This funding will be used for system development, purchasing devices for vendors, and on-campus marketing. The goal is to launch the product and acquire the first 1,000 users."</a:t>
            </a:r>
          </a:p>
          <a:p>
            <a:pPr algn="l">
              <a:lnSpc>
                <a:spcPts val="4899"/>
              </a:lnSpc>
            </a:pPr>
            <a:r>
              <a:rPr lang="en-US" sz="3499">
                <a:solidFill>
                  <a:srgbClr val="000000"/>
                </a:solidFill>
                <a:latin typeface="Sensei"/>
                <a:ea typeface="Sensei"/>
                <a:cs typeface="Sensei"/>
                <a:sym typeface="Sensei"/>
              </a:rPr>
              <a:t>Funding Breakdown:</a:t>
            </a:r>
          </a:p>
          <a:p>
            <a:pPr marL="755649" lvl="1" indent="-377824" algn="l">
              <a:lnSpc>
                <a:spcPts val="4899"/>
              </a:lnSpc>
              <a:buFont typeface="Arial"/>
              <a:buChar char="•"/>
            </a:pPr>
            <a:r>
              <a:rPr lang="en-US" sz="3499">
                <a:solidFill>
                  <a:srgbClr val="000000"/>
                </a:solidFill>
                <a:latin typeface="Sensei"/>
                <a:ea typeface="Sensei"/>
                <a:cs typeface="Sensei"/>
                <a:sym typeface="Sensei"/>
              </a:rPr>
              <a:t>40% Development</a:t>
            </a:r>
          </a:p>
          <a:p>
            <a:pPr marL="755649" lvl="1" indent="-377824" algn="l">
              <a:lnSpc>
                <a:spcPts val="4899"/>
              </a:lnSpc>
              <a:buFont typeface="Arial"/>
              <a:buChar char="•"/>
            </a:pPr>
            <a:r>
              <a:rPr lang="en-US" sz="3499">
                <a:solidFill>
                  <a:srgbClr val="000000"/>
                </a:solidFill>
                <a:latin typeface="Sensei"/>
                <a:ea typeface="Sensei"/>
                <a:cs typeface="Sensei"/>
                <a:sym typeface="Sensei"/>
              </a:rPr>
              <a:t>30% Hardware</a:t>
            </a:r>
          </a:p>
          <a:p>
            <a:pPr marL="755649" lvl="1" indent="-377824" algn="l">
              <a:lnSpc>
                <a:spcPts val="4899"/>
              </a:lnSpc>
              <a:buFont typeface="Arial"/>
              <a:buChar char="•"/>
            </a:pPr>
            <a:r>
              <a:rPr lang="en-US" sz="3499">
                <a:solidFill>
                  <a:srgbClr val="000000"/>
                </a:solidFill>
                <a:latin typeface="Sensei"/>
                <a:ea typeface="Sensei"/>
                <a:cs typeface="Sensei"/>
                <a:sym typeface="Sensei"/>
              </a:rPr>
              <a:t>30% Marketing</a:t>
            </a:r>
          </a:p>
          <a:p>
            <a:pPr algn="l">
              <a:lnSpc>
                <a:spcPts val="4899"/>
              </a:lnSpc>
            </a:pPr>
            <a:endParaRPr lang="en-US" sz="3499">
              <a:solidFill>
                <a:srgbClr val="000000"/>
              </a:solidFill>
              <a:latin typeface="Sensei"/>
              <a:ea typeface="Sensei"/>
              <a:cs typeface="Sensei"/>
              <a:sym typeface="Sensei"/>
            </a:endParaRPr>
          </a:p>
        </p:txBody>
      </p:sp>
      <p:sp>
        <p:nvSpPr>
          <p:cNvPr id="8" name="Freeform 8"/>
          <p:cNvSpPr/>
          <p:nvPr/>
        </p:nvSpPr>
        <p:spPr>
          <a:xfrm>
            <a:off x="15038080" y="191808"/>
            <a:ext cx="5978033" cy="1614069"/>
          </a:xfrm>
          <a:custGeom>
            <a:avLst/>
            <a:gdLst/>
            <a:ahLst/>
            <a:cxnLst/>
            <a:rect l="l" t="t" r="r" b="b"/>
            <a:pathLst>
              <a:path w="5978033" h="1614069">
                <a:moveTo>
                  <a:pt x="0" y="0"/>
                </a:moveTo>
                <a:lnTo>
                  <a:pt x="5978033" y="0"/>
                </a:lnTo>
                <a:lnTo>
                  <a:pt x="5978033" y="1614068"/>
                </a:lnTo>
                <a:lnTo>
                  <a:pt x="0" y="1614068"/>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ar-EG"/>
          </a:p>
        </p:txBody>
      </p:sp>
      <p:sp>
        <p:nvSpPr>
          <p:cNvPr id="9" name="Freeform 9"/>
          <p:cNvSpPr/>
          <p:nvPr/>
        </p:nvSpPr>
        <p:spPr>
          <a:xfrm>
            <a:off x="-2989016" y="497600"/>
            <a:ext cx="5978033" cy="1614069"/>
          </a:xfrm>
          <a:custGeom>
            <a:avLst/>
            <a:gdLst/>
            <a:ahLst/>
            <a:cxnLst/>
            <a:rect l="l" t="t" r="r" b="b"/>
            <a:pathLst>
              <a:path w="5978033" h="1614069">
                <a:moveTo>
                  <a:pt x="0" y="0"/>
                </a:moveTo>
                <a:lnTo>
                  <a:pt x="5978032" y="0"/>
                </a:lnTo>
                <a:lnTo>
                  <a:pt x="5978032" y="1614068"/>
                </a:lnTo>
                <a:lnTo>
                  <a:pt x="0" y="1614068"/>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ar-EG"/>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DFDBD"/>
        </a:solidFill>
        <a:effectLst/>
      </p:bgPr>
    </p:bg>
    <p:spTree>
      <p:nvGrpSpPr>
        <p:cNvPr id="1" name=""/>
        <p:cNvGrpSpPr/>
        <p:nvPr/>
      </p:nvGrpSpPr>
      <p:grpSpPr>
        <a:xfrm>
          <a:off x="0" y="0"/>
          <a:ext cx="0" cy="0"/>
          <a:chOff x="0" y="0"/>
          <a:chExt cx="0" cy="0"/>
        </a:xfrm>
      </p:grpSpPr>
      <p:sp>
        <p:nvSpPr>
          <p:cNvPr id="2" name="Freeform 2"/>
          <p:cNvSpPr/>
          <p:nvPr/>
        </p:nvSpPr>
        <p:spPr>
          <a:xfrm>
            <a:off x="-892504" y="9258300"/>
            <a:ext cx="20532529" cy="4078770"/>
          </a:xfrm>
          <a:custGeom>
            <a:avLst/>
            <a:gdLst/>
            <a:ahLst/>
            <a:cxnLst/>
            <a:rect l="l" t="t" r="r" b="b"/>
            <a:pathLst>
              <a:path w="20532529" h="4078770">
                <a:moveTo>
                  <a:pt x="0" y="0"/>
                </a:moveTo>
                <a:lnTo>
                  <a:pt x="20532530" y="0"/>
                </a:lnTo>
                <a:lnTo>
                  <a:pt x="20532530" y="4078770"/>
                </a:lnTo>
                <a:lnTo>
                  <a:pt x="0" y="40787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ar-EG"/>
          </a:p>
        </p:txBody>
      </p:sp>
      <p:sp>
        <p:nvSpPr>
          <p:cNvPr id="3" name="Freeform 3"/>
          <p:cNvSpPr/>
          <p:nvPr/>
        </p:nvSpPr>
        <p:spPr>
          <a:xfrm>
            <a:off x="-892504" y="7002447"/>
            <a:ext cx="3696272" cy="4291752"/>
          </a:xfrm>
          <a:custGeom>
            <a:avLst/>
            <a:gdLst/>
            <a:ahLst/>
            <a:cxnLst/>
            <a:rect l="l" t="t" r="r" b="b"/>
            <a:pathLst>
              <a:path w="3696272" h="4291752">
                <a:moveTo>
                  <a:pt x="0" y="0"/>
                </a:moveTo>
                <a:lnTo>
                  <a:pt x="3696272" y="0"/>
                </a:lnTo>
                <a:lnTo>
                  <a:pt x="3696272" y="4291752"/>
                </a:lnTo>
                <a:lnTo>
                  <a:pt x="0" y="42917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EG"/>
          </a:p>
        </p:txBody>
      </p:sp>
      <p:sp>
        <p:nvSpPr>
          <p:cNvPr id="4" name="Freeform 4"/>
          <p:cNvSpPr/>
          <p:nvPr/>
        </p:nvSpPr>
        <p:spPr>
          <a:xfrm flipH="1">
            <a:off x="15485120" y="7112424"/>
            <a:ext cx="3696272" cy="4291752"/>
          </a:xfrm>
          <a:custGeom>
            <a:avLst/>
            <a:gdLst/>
            <a:ahLst/>
            <a:cxnLst/>
            <a:rect l="l" t="t" r="r" b="b"/>
            <a:pathLst>
              <a:path w="3696272" h="4291752">
                <a:moveTo>
                  <a:pt x="3696271" y="0"/>
                </a:moveTo>
                <a:lnTo>
                  <a:pt x="0" y="0"/>
                </a:lnTo>
                <a:lnTo>
                  <a:pt x="0" y="4291752"/>
                </a:lnTo>
                <a:lnTo>
                  <a:pt x="3696271" y="4291752"/>
                </a:lnTo>
                <a:lnTo>
                  <a:pt x="3696271"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EG"/>
          </a:p>
        </p:txBody>
      </p:sp>
      <p:sp>
        <p:nvSpPr>
          <p:cNvPr id="5" name="Freeform 5"/>
          <p:cNvSpPr/>
          <p:nvPr/>
        </p:nvSpPr>
        <p:spPr>
          <a:xfrm>
            <a:off x="5552004" y="390615"/>
            <a:ext cx="6192929" cy="2242357"/>
          </a:xfrm>
          <a:custGeom>
            <a:avLst/>
            <a:gdLst/>
            <a:ahLst/>
            <a:cxnLst/>
            <a:rect l="l" t="t" r="r" b="b"/>
            <a:pathLst>
              <a:path w="6192929" h="2242357">
                <a:moveTo>
                  <a:pt x="0" y="0"/>
                </a:moveTo>
                <a:lnTo>
                  <a:pt x="6192930" y="0"/>
                </a:lnTo>
                <a:lnTo>
                  <a:pt x="6192930" y="2242357"/>
                </a:lnTo>
                <a:lnTo>
                  <a:pt x="0" y="224235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EG"/>
          </a:p>
        </p:txBody>
      </p:sp>
      <p:sp>
        <p:nvSpPr>
          <p:cNvPr id="6" name="TextBox 6"/>
          <p:cNvSpPr txBox="1"/>
          <p:nvPr/>
        </p:nvSpPr>
        <p:spPr>
          <a:xfrm>
            <a:off x="5898587" y="1041689"/>
            <a:ext cx="5499765" cy="1064133"/>
          </a:xfrm>
          <a:prstGeom prst="rect">
            <a:avLst/>
          </a:prstGeom>
        </p:spPr>
        <p:txBody>
          <a:bodyPr lIns="0" tIns="0" rIns="0" bIns="0" rtlCol="0" anchor="t">
            <a:spAutoFit/>
          </a:bodyPr>
          <a:lstStyle/>
          <a:p>
            <a:pPr algn="ctr">
              <a:lnSpc>
                <a:spcPts val="7956"/>
              </a:lnSpc>
            </a:pPr>
            <a:r>
              <a:rPr lang="en-US" sz="7800">
                <a:solidFill>
                  <a:srgbClr val="FFFFFF"/>
                </a:solidFill>
                <a:latin typeface="Lilita One"/>
                <a:ea typeface="Lilita One"/>
                <a:cs typeface="Lilita One"/>
                <a:sym typeface="Lilita One"/>
              </a:rPr>
              <a:t>Impact</a:t>
            </a:r>
          </a:p>
        </p:txBody>
      </p:sp>
      <p:sp>
        <p:nvSpPr>
          <p:cNvPr id="7" name="Freeform 7"/>
          <p:cNvSpPr/>
          <p:nvPr/>
        </p:nvSpPr>
        <p:spPr>
          <a:xfrm>
            <a:off x="15038080" y="191808"/>
            <a:ext cx="5978033" cy="1614069"/>
          </a:xfrm>
          <a:custGeom>
            <a:avLst/>
            <a:gdLst/>
            <a:ahLst/>
            <a:cxnLst/>
            <a:rect l="l" t="t" r="r" b="b"/>
            <a:pathLst>
              <a:path w="5978033" h="1614069">
                <a:moveTo>
                  <a:pt x="0" y="0"/>
                </a:moveTo>
                <a:lnTo>
                  <a:pt x="5978033" y="0"/>
                </a:lnTo>
                <a:lnTo>
                  <a:pt x="5978033" y="1614068"/>
                </a:lnTo>
                <a:lnTo>
                  <a:pt x="0" y="161406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EG"/>
          </a:p>
        </p:txBody>
      </p:sp>
      <p:sp>
        <p:nvSpPr>
          <p:cNvPr id="8" name="Freeform 8"/>
          <p:cNvSpPr/>
          <p:nvPr/>
        </p:nvSpPr>
        <p:spPr>
          <a:xfrm>
            <a:off x="-2989016" y="497600"/>
            <a:ext cx="5978033" cy="1614069"/>
          </a:xfrm>
          <a:custGeom>
            <a:avLst/>
            <a:gdLst/>
            <a:ahLst/>
            <a:cxnLst/>
            <a:rect l="l" t="t" r="r" b="b"/>
            <a:pathLst>
              <a:path w="5978033" h="1614069">
                <a:moveTo>
                  <a:pt x="0" y="0"/>
                </a:moveTo>
                <a:lnTo>
                  <a:pt x="5978032" y="0"/>
                </a:lnTo>
                <a:lnTo>
                  <a:pt x="5978032" y="1614068"/>
                </a:lnTo>
                <a:lnTo>
                  <a:pt x="0" y="161406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EG"/>
          </a:p>
        </p:txBody>
      </p:sp>
      <p:sp>
        <p:nvSpPr>
          <p:cNvPr id="9" name="TextBox 9"/>
          <p:cNvSpPr txBox="1"/>
          <p:nvPr/>
        </p:nvSpPr>
        <p:spPr>
          <a:xfrm>
            <a:off x="1557273" y="3151335"/>
            <a:ext cx="14182392" cy="5143499"/>
          </a:xfrm>
          <a:prstGeom prst="rect">
            <a:avLst/>
          </a:prstGeom>
        </p:spPr>
        <p:txBody>
          <a:bodyPr lIns="0" tIns="0" rIns="0" bIns="0" rtlCol="0" anchor="t">
            <a:spAutoFit/>
          </a:bodyPr>
          <a:lstStyle/>
          <a:p>
            <a:pPr algn="ctr">
              <a:lnSpc>
                <a:spcPts val="5099"/>
              </a:lnSpc>
              <a:spcBef>
                <a:spcPct val="0"/>
              </a:spcBef>
            </a:pPr>
            <a:r>
              <a:rPr lang="en-US" sz="4999">
                <a:solidFill>
                  <a:srgbClr val="000000"/>
                </a:solidFill>
                <a:latin typeface="Lilita One"/>
                <a:ea typeface="Lilita One"/>
                <a:cs typeface="Lilita One"/>
                <a:sym typeface="Lilita One"/>
              </a:rPr>
              <a:t>Our vision is simple: we want to become the number one campus ordering system in the country. We want to save millions of collective student hours, allowing them to focus on studying and socializing rather than standing in a sweaty line. We want to digitize the entire university dining experience and build a smart campus ecosystem. Join us in making the physical queue a thing of the past. Thank you.</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DFDBD"/>
        </a:solidFill>
        <a:effectLst/>
      </p:bgPr>
    </p:bg>
    <p:spTree>
      <p:nvGrpSpPr>
        <p:cNvPr id="1" name=""/>
        <p:cNvGrpSpPr/>
        <p:nvPr/>
      </p:nvGrpSpPr>
      <p:grpSpPr>
        <a:xfrm>
          <a:off x="0" y="0"/>
          <a:ext cx="0" cy="0"/>
          <a:chOff x="0" y="0"/>
          <a:chExt cx="0" cy="0"/>
        </a:xfrm>
      </p:grpSpPr>
      <p:sp>
        <p:nvSpPr>
          <p:cNvPr id="2" name="Freeform 2"/>
          <p:cNvSpPr/>
          <p:nvPr/>
        </p:nvSpPr>
        <p:spPr>
          <a:xfrm>
            <a:off x="-988915" y="9258300"/>
            <a:ext cx="20532529" cy="4078770"/>
          </a:xfrm>
          <a:custGeom>
            <a:avLst/>
            <a:gdLst/>
            <a:ahLst/>
            <a:cxnLst/>
            <a:rect l="l" t="t" r="r" b="b"/>
            <a:pathLst>
              <a:path w="20532529" h="4078770">
                <a:moveTo>
                  <a:pt x="0" y="0"/>
                </a:moveTo>
                <a:lnTo>
                  <a:pt x="20532530" y="0"/>
                </a:lnTo>
                <a:lnTo>
                  <a:pt x="20532530" y="4078770"/>
                </a:lnTo>
                <a:lnTo>
                  <a:pt x="0" y="40787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ar-EG"/>
          </a:p>
        </p:txBody>
      </p:sp>
      <p:sp>
        <p:nvSpPr>
          <p:cNvPr id="3" name="Freeform 3"/>
          <p:cNvSpPr/>
          <p:nvPr/>
        </p:nvSpPr>
        <p:spPr>
          <a:xfrm>
            <a:off x="-275987" y="7892142"/>
            <a:ext cx="3064279" cy="2732315"/>
          </a:xfrm>
          <a:custGeom>
            <a:avLst/>
            <a:gdLst/>
            <a:ahLst/>
            <a:cxnLst/>
            <a:rect l="l" t="t" r="r" b="b"/>
            <a:pathLst>
              <a:path w="3064279" h="2732315">
                <a:moveTo>
                  <a:pt x="0" y="0"/>
                </a:moveTo>
                <a:lnTo>
                  <a:pt x="3064279" y="0"/>
                </a:lnTo>
                <a:lnTo>
                  <a:pt x="3064279" y="2732316"/>
                </a:lnTo>
                <a:lnTo>
                  <a:pt x="0" y="273231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EG"/>
          </a:p>
        </p:txBody>
      </p:sp>
      <p:sp>
        <p:nvSpPr>
          <p:cNvPr id="4" name="Freeform 4"/>
          <p:cNvSpPr/>
          <p:nvPr/>
        </p:nvSpPr>
        <p:spPr>
          <a:xfrm flipH="1">
            <a:off x="15511649" y="7892142"/>
            <a:ext cx="3064279" cy="2732315"/>
          </a:xfrm>
          <a:custGeom>
            <a:avLst/>
            <a:gdLst/>
            <a:ahLst/>
            <a:cxnLst/>
            <a:rect l="l" t="t" r="r" b="b"/>
            <a:pathLst>
              <a:path w="3064279" h="2732315">
                <a:moveTo>
                  <a:pt x="3064279" y="0"/>
                </a:moveTo>
                <a:lnTo>
                  <a:pt x="0" y="0"/>
                </a:lnTo>
                <a:lnTo>
                  <a:pt x="0" y="2732316"/>
                </a:lnTo>
                <a:lnTo>
                  <a:pt x="3064279" y="2732316"/>
                </a:lnTo>
                <a:lnTo>
                  <a:pt x="3064279"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EG"/>
          </a:p>
        </p:txBody>
      </p:sp>
      <p:sp>
        <p:nvSpPr>
          <p:cNvPr id="5" name="Freeform 5"/>
          <p:cNvSpPr/>
          <p:nvPr/>
        </p:nvSpPr>
        <p:spPr>
          <a:xfrm>
            <a:off x="15038080" y="191808"/>
            <a:ext cx="5978033" cy="1614069"/>
          </a:xfrm>
          <a:custGeom>
            <a:avLst/>
            <a:gdLst/>
            <a:ahLst/>
            <a:cxnLst/>
            <a:rect l="l" t="t" r="r" b="b"/>
            <a:pathLst>
              <a:path w="5978033" h="1614069">
                <a:moveTo>
                  <a:pt x="0" y="0"/>
                </a:moveTo>
                <a:lnTo>
                  <a:pt x="5978033" y="0"/>
                </a:lnTo>
                <a:lnTo>
                  <a:pt x="5978033" y="1614068"/>
                </a:lnTo>
                <a:lnTo>
                  <a:pt x="0" y="161406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EG"/>
          </a:p>
        </p:txBody>
      </p:sp>
      <p:sp>
        <p:nvSpPr>
          <p:cNvPr id="6" name="Freeform 6"/>
          <p:cNvSpPr/>
          <p:nvPr/>
        </p:nvSpPr>
        <p:spPr>
          <a:xfrm>
            <a:off x="-3977931" y="1028700"/>
            <a:ext cx="5978033" cy="1614069"/>
          </a:xfrm>
          <a:custGeom>
            <a:avLst/>
            <a:gdLst/>
            <a:ahLst/>
            <a:cxnLst/>
            <a:rect l="l" t="t" r="r" b="b"/>
            <a:pathLst>
              <a:path w="5978033" h="1614069">
                <a:moveTo>
                  <a:pt x="0" y="0"/>
                </a:moveTo>
                <a:lnTo>
                  <a:pt x="5978033" y="0"/>
                </a:lnTo>
                <a:lnTo>
                  <a:pt x="5978033" y="1614069"/>
                </a:lnTo>
                <a:lnTo>
                  <a:pt x="0" y="161406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EG"/>
          </a:p>
        </p:txBody>
      </p:sp>
      <p:graphicFrame>
        <p:nvGraphicFramePr>
          <p:cNvPr id="7" name="Object 7"/>
          <p:cNvGraphicFramePr/>
          <p:nvPr/>
        </p:nvGraphicFramePr>
        <p:xfrm>
          <a:off x="5672819" y="4672012"/>
          <a:ext cx="6942361" cy="942975"/>
        </p:xfrm>
        <a:graphic>
          <a:graphicData uri="http://schemas.openxmlformats.org/presentationml/2006/ole">
            <mc:AlternateContent xmlns:mc="http://schemas.openxmlformats.org/markup-compatibility/2006">
              <mc:Choice xmlns:v="urn:schemas-microsoft-com:vml" Requires="v">
                <p:oleObj name="Worksheet" r:id="rId5" imgW="8331200" imgH="2324100" progId="Excel.Sheet.12">
                  <p:embed/>
                </p:oleObj>
              </mc:Choice>
              <mc:Fallback>
                <p:oleObj name="Worksheet" r:id="rId5" imgW="8331200" imgH="2324100" progId="Excel.Sheet.12">
                  <p:embed/>
                  <p:pic>
                    <p:nvPicPr>
                      <p:cNvPr id="0" name=""/>
                      <p:cNvPicPr/>
                      <p:nvPr/>
                    </p:nvPicPr>
                    <p:blipFill>
                      <a:blip r:embed="rId6"/>
                      <a:stretch>
                        <a:fillRect/>
                      </a:stretch>
                    </p:blipFill>
                    <p:spPr>
                      <a:xfrm>
                        <a:off x="5672819" y="4672012"/>
                        <a:ext cx="6942361" cy="942975"/>
                      </a:xfrm>
                      <a:prstGeom prst="rect">
                        <a:avLst/>
                      </a:prstGeom>
                    </p:spPr>
                  </p:pic>
                </p:oleObj>
              </mc:Fallback>
            </mc:AlternateContent>
          </a:graphicData>
        </a:graphic>
      </p:graphicFrame>
      <p:graphicFrame>
        <p:nvGraphicFramePr>
          <p:cNvPr id="8" name="Object 8"/>
          <p:cNvGraphicFramePr/>
          <p:nvPr>
            <p:extLst>
              <p:ext uri="{D42A27DB-BD31-4B8C-83A1-F6EECF244321}">
                <p14:modId xmlns:p14="http://schemas.microsoft.com/office/powerpoint/2010/main" val="3750898781"/>
              </p:ext>
            </p:extLst>
          </p:nvPr>
        </p:nvGraphicFramePr>
        <p:xfrm>
          <a:off x="533400" y="3435502"/>
          <a:ext cx="19010214" cy="9327998"/>
        </p:xfrm>
        <a:graphic>
          <a:graphicData uri="http://schemas.openxmlformats.org/presentationml/2006/ole">
            <mc:AlternateContent xmlns:mc="http://schemas.openxmlformats.org/markup-compatibility/2006">
              <mc:Choice xmlns:v="urn:schemas-microsoft-com:vml" Requires="v">
                <p:oleObj name="Worksheet" r:id="rId7" imgW="16649700" imgH="8521700" progId="Excel.Sheet.12">
                  <p:embed/>
                </p:oleObj>
              </mc:Choice>
              <mc:Fallback>
                <p:oleObj name="Worksheet" r:id="rId7" imgW="16649700" imgH="8521700" progId="Excel.Sheet.12">
                  <p:embed/>
                  <p:pic>
                    <p:nvPicPr>
                      <p:cNvPr id="0" name=""/>
                      <p:cNvPicPr/>
                      <p:nvPr/>
                    </p:nvPicPr>
                    <p:blipFill>
                      <a:blip r:embed="rId8"/>
                      <a:stretch>
                        <a:fillRect/>
                      </a:stretch>
                    </p:blipFill>
                    <p:spPr>
                      <a:xfrm>
                        <a:off x="533400" y="3435502"/>
                        <a:ext cx="19010214" cy="9327998"/>
                      </a:xfrm>
                      <a:prstGeom prst="rect">
                        <a:avLst/>
                      </a:prstGeom>
                    </p:spPr>
                  </p:pic>
                </p:oleObj>
              </mc:Fallback>
            </mc:AlternateContent>
          </a:graphicData>
        </a:graphic>
      </p:graphicFrame>
      <p:sp>
        <p:nvSpPr>
          <p:cNvPr id="9" name="TextBox 9"/>
          <p:cNvSpPr txBox="1"/>
          <p:nvPr/>
        </p:nvSpPr>
        <p:spPr>
          <a:xfrm>
            <a:off x="5361227" y="666236"/>
            <a:ext cx="7565545" cy="1052210"/>
          </a:xfrm>
          <a:prstGeom prst="rect">
            <a:avLst/>
          </a:prstGeom>
        </p:spPr>
        <p:txBody>
          <a:bodyPr lIns="0" tIns="0" rIns="0" bIns="0" rtlCol="0" anchor="t">
            <a:spAutoFit/>
          </a:bodyPr>
          <a:lstStyle/>
          <a:p>
            <a:pPr algn="ctr">
              <a:lnSpc>
                <a:spcPts val="7932"/>
              </a:lnSpc>
            </a:pPr>
            <a:r>
              <a:rPr lang="en-US" sz="7776">
                <a:solidFill>
                  <a:srgbClr val="000000"/>
                </a:solidFill>
                <a:latin typeface="Lilita One"/>
                <a:ea typeface="Lilita One"/>
                <a:cs typeface="Lilita One"/>
                <a:sym typeface="Lilita One"/>
              </a:rPr>
              <a:t>Thank You</a:t>
            </a:r>
          </a:p>
        </p:txBody>
      </p:sp>
      <p:sp>
        <p:nvSpPr>
          <p:cNvPr id="10" name="TextBox 10"/>
          <p:cNvSpPr txBox="1"/>
          <p:nvPr/>
        </p:nvSpPr>
        <p:spPr>
          <a:xfrm>
            <a:off x="1768924" y="2598610"/>
            <a:ext cx="14750153" cy="2073402"/>
          </a:xfrm>
          <a:prstGeom prst="rect">
            <a:avLst/>
          </a:prstGeom>
        </p:spPr>
        <p:txBody>
          <a:bodyPr lIns="0" tIns="0" rIns="0" bIns="0" rtlCol="0" anchor="t">
            <a:spAutoFit/>
          </a:bodyPr>
          <a:lstStyle/>
          <a:p>
            <a:pPr algn="l">
              <a:lnSpc>
                <a:spcPts val="3264"/>
              </a:lnSpc>
              <a:spcBef>
                <a:spcPct val="0"/>
              </a:spcBef>
            </a:pPr>
            <a:r>
              <a:rPr lang="en-US" sz="3200">
                <a:solidFill>
                  <a:srgbClr val="000000"/>
                </a:solidFill>
                <a:latin typeface="Lilita One"/>
                <a:ea typeface="Lilita One"/>
                <a:cs typeface="Lilita One"/>
                <a:sym typeface="Lilita One"/>
              </a:rPr>
              <a:t>We would like to sincerely thank Dr. Soha Safwat and Dr. Ahmed Mahran for their valuable support and great efforts throughout our project.</a:t>
            </a:r>
          </a:p>
          <a:p>
            <a:pPr algn="l">
              <a:lnSpc>
                <a:spcPts val="3264"/>
              </a:lnSpc>
              <a:spcBef>
                <a:spcPct val="0"/>
              </a:spcBef>
            </a:pPr>
            <a:r>
              <a:rPr lang="en-US" sz="3200">
                <a:solidFill>
                  <a:srgbClr val="000000"/>
                </a:solidFill>
                <a:latin typeface="Lilita One"/>
                <a:ea typeface="Lilita One"/>
                <a:cs typeface="Lilita One"/>
                <a:sym typeface="Lilita One"/>
              </a:rPr>
              <a:t>Your guidance and encouragement meant a lot to us and truly made a significant difference.</a:t>
            </a:r>
          </a:p>
          <a:p>
            <a:pPr algn="l">
              <a:lnSpc>
                <a:spcPts val="3264"/>
              </a:lnSpc>
              <a:spcBef>
                <a:spcPct val="0"/>
              </a:spcBef>
            </a:pPr>
            <a:r>
              <a:rPr lang="en-US" sz="3200">
                <a:solidFill>
                  <a:srgbClr val="000000"/>
                </a:solidFill>
                <a:latin typeface="Lilita One"/>
                <a:ea typeface="Lilita One"/>
                <a:cs typeface="Lilita One"/>
                <a:sym typeface="Lilita One"/>
              </a:rPr>
              <a:t> OUR TEAM:</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DFDBD"/>
        </a:solidFill>
        <a:effectLst/>
      </p:bgPr>
    </p:bg>
    <p:spTree>
      <p:nvGrpSpPr>
        <p:cNvPr id="1" name=""/>
        <p:cNvGrpSpPr/>
        <p:nvPr/>
      </p:nvGrpSpPr>
      <p:grpSpPr>
        <a:xfrm>
          <a:off x="0" y="0"/>
          <a:ext cx="0" cy="0"/>
          <a:chOff x="0" y="0"/>
          <a:chExt cx="0" cy="0"/>
        </a:xfrm>
      </p:grpSpPr>
      <p:sp>
        <p:nvSpPr>
          <p:cNvPr id="2" name="Freeform 2"/>
          <p:cNvSpPr/>
          <p:nvPr/>
        </p:nvSpPr>
        <p:spPr>
          <a:xfrm>
            <a:off x="679060" y="360117"/>
            <a:ext cx="5272722" cy="4607041"/>
          </a:xfrm>
          <a:custGeom>
            <a:avLst/>
            <a:gdLst/>
            <a:ahLst/>
            <a:cxnLst/>
            <a:rect l="l" t="t" r="r" b="b"/>
            <a:pathLst>
              <a:path w="5272722" h="4607041">
                <a:moveTo>
                  <a:pt x="0" y="0"/>
                </a:moveTo>
                <a:lnTo>
                  <a:pt x="5272722" y="0"/>
                </a:lnTo>
                <a:lnTo>
                  <a:pt x="5272722" y="4607041"/>
                </a:lnTo>
                <a:lnTo>
                  <a:pt x="0" y="460704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ar-EG"/>
          </a:p>
        </p:txBody>
      </p:sp>
      <p:sp>
        <p:nvSpPr>
          <p:cNvPr id="3" name="Freeform 3"/>
          <p:cNvSpPr/>
          <p:nvPr/>
        </p:nvSpPr>
        <p:spPr>
          <a:xfrm>
            <a:off x="-1122265" y="8982975"/>
            <a:ext cx="20532529" cy="4078770"/>
          </a:xfrm>
          <a:custGeom>
            <a:avLst/>
            <a:gdLst/>
            <a:ahLst/>
            <a:cxnLst/>
            <a:rect l="l" t="t" r="r" b="b"/>
            <a:pathLst>
              <a:path w="20532529" h="4078770">
                <a:moveTo>
                  <a:pt x="0" y="0"/>
                </a:moveTo>
                <a:lnTo>
                  <a:pt x="20532530" y="0"/>
                </a:lnTo>
                <a:lnTo>
                  <a:pt x="20532530" y="4078770"/>
                </a:lnTo>
                <a:lnTo>
                  <a:pt x="0" y="407877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EG"/>
          </a:p>
        </p:txBody>
      </p:sp>
      <p:sp>
        <p:nvSpPr>
          <p:cNvPr id="4" name="Freeform 4"/>
          <p:cNvSpPr/>
          <p:nvPr/>
        </p:nvSpPr>
        <p:spPr>
          <a:xfrm>
            <a:off x="13178501" y="360117"/>
            <a:ext cx="6913150" cy="1866550"/>
          </a:xfrm>
          <a:custGeom>
            <a:avLst/>
            <a:gdLst/>
            <a:ahLst/>
            <a:cxnLst/>
            <a:rect l="l" t="t" r="r" b="b"/>
            <a:pathLst>
              <a:path w="6913150" h="1866550">
                <a:moveTo>
                  <a:pt x="0" y="0"/>
                </a:moveTo>
                <a:lnTo>
                  <a:pt x="6913150" y="0"/>
                </a:lnTo>
                <a:lnTo>
                  <a:pt x="6913150" y="1866550"/>
                </a:lnTo>
                <a:lnTo>
                  <a:pt x="0" y="186655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EG"/>
          </a:p>
        </p:txBody>
      </p:sp>
      <p:sp>
        <p:nvSpPr>
          <p:cNvPr id="5" name="Freeform 5"/>
          <p:cNvSpPr/>
          <p:nvPr/>
        </p:nvSpPr>
        <p:spPr>
          <a:xfrm>
            <a:off x="7675394" y="0"/>
            <a:ext cx="6977061" cy="10287000"/>
          </a:xfrm>
          <a:custGeom>
            <a:avLst/>
            <a:gdLst/>
            <a:ahLst/>
            <a:cxnLst/>
            <a:rect l="l" t="t" r="r" b="b"/>
            <a:pathLst>
              <a:path w="6977061" h="10287000">
                <a:moveTo>
                  <a:pt x="0" y="0"/>
                </a:moveTo>
                <a:lnTo>
                  <a:pt x="6977060" y="0"/>
                </a:lnTo>
                <a:lnTo>
                  <a:pt x="6977060" y="10287000"/>
                </a:lnTo>
                <a:lnTo>
                  <a:pt x="0" y="10287000"/>
                </a:lnTo>
                <a:lnTo>
                  <a:pt x="0" y="0"/>
                </a:lnTo>
                <a:close/>
              </a:path>
            </a:pathLst>
          </a:custGeom>
          <a:blipFill>
            <a:blip r:embed="rId5"/>
            <a:stretch>
              <a:fillRect t="-10288" b="-10288"/>
            </a:stretch>
          </a:blipFill>
        </p:spPr>
        <p:txBody>
          <a:bodyPr/>
          <a:lstStyle/>
          <a:p>
            <a:endParaRPr lang="ar-EG"/>
          </a:p>
        </p:txBody>
      </p:sp>
      <p:sp>
        <p:nvSpPr>
          <p:cNvPr id="6" name="TextBox 6"/>
          <p:cNvSpPr txBox="1"/>
          <p:nvPr/>
        </p:nvSpPr>
        <p:spPr>
          <a:xfrm>
            <a:off x="1060476" y="1972931"/>
            <a:ext cx="4509889" cy="1026069"/>
          </a:xfrm>
          <a:prstGeom prst="rect">
            <a:avLst/>
          </a:prstGeom>
        </p:spPr>
        <p:txBody>
          <a:bodyPr lIns="0" tIns="0" rIns="0" bIns="0" rtlCol="0" anchor="t">
            <a:spAutoFit/>
          </a:bodyPr>
          <a:lstStyle/>
          <a:p>
            <a:pPr algn="ctr" rtl="1">
              <a:lnSpc>
                <a:spcPts val="7160"/>
              </a:lnSpc>
            </a:pPr>
            <a:r>
              <a:rPr lang="ar-EG" sz="7019" b="1">
                <a:solidFill>
                  <a:srgbClr val="FFFFFF"/>
                </a:solidFill>
                <a:latin typeface="DG Ghayaty Bold"/>
                <a:ea typeface="DG Ghayaty Bold"/>
                <a:cs typeface="DG Ghayaty Bold"/>
                <a:sym typeface="DG Ghayaty Bold"/>
                <a:rtl/>
              </a:rPr>
              <a:t>دمتم</a:t>
            </a:r>
          </a:p>
        </p:txBody>
      </p:sp>
      <p:sp>
        <p:nvSpPr>
          <p:cNvPr id="7" name="TextBox 7"/>
          <p:cNvSpPr txBox="1"/>
          <p:nvPr/>
        </p:nvSpPr>
        <p:spPr>
          <a:xfrm>
            <a:off x="1060476" y="3723510"/>
            <a:ext cx="4509889" cy="940344"/>
          </a:xfrm>
          <a:prstGeom prst="rect">
            <a:avLst/>
          </a:prstGeom>
        </p:spPr>
        <p:txBody>
          <a:bodyPr lIns="0" tIns="0" rIns="0" bIns="0" rtlCol="0" anchor="t">
            <a:spAutoFit/>
          </a:bodyPr>
          <a:lstStyle/>
          <a:p>
            <a:pPr algn="ctr" rtl="1">
              <a:lnSpc>
                <a:spcPts val="7160"/>
              </a:lnSpc>
            </a:pPr>
            <a:r>
              <a:rPr lang="ar-EG" sz="7019" b="1">
                <a:solidFill>
                  <a:srgbClr val="FFFFFF"/>
                </a:solidFill>
                <a:latin typeface="DG Sahabh Bold"/>
                <a:ea typeface="DG Sahabh Bold"/>
                <a:cs typeface="DG Sahabh Bold"/>
                <a:sym typeface="DG Sahabh Bold"/>
                <a:rtl/>
              </a:rPr>
              <a:t>سالمين</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806</Words>
  <Application>Microsoft Office PowerPoint</Application>
  <PresentationFormat>Custom</PresentationFormat>
  <Paragraphs>44</Paragraphs>
  <Slides>13</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13</vt:i4>
      </vt:variant>
    </vt:vector>
  </HeadingPairs>
  <TitlesOfParts>
    <vt:vector size="21" baseType="lpstr">
      <vt:lpstr>DG Sahabh Bold</vt:lpstr>
      <vt:lpstr>Sensei</vt:lpstr>
      <vt:lpstr>Calibri</vt:lpstr>
      <vt:lpstr>Arial</vt:lpstr>
      <vt:lpstr>DG Ghayaty Bold</vt:lpstr>
      <vt:lpstr>Lilita One</vt: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Fast Food Truck Concept Presentation</dc:title>
  <dc:creator>noura maher</dc:creator>
  <cp:lastModifiedBy>noura maher</cp:lastModifiedBy>
  <cp:revision>2</cp:revision>
  <dcterms:created xsi:type="dcterms:W3CDTF">2006-08-16T00:00:00Z</dcterms:created>
  <dcterms:modified xsi:type="dcterms:W3CDTF">2026-04-23T23:33:07Z</dcterms:modified>
  <dc:identifier>DAHHK9k5QjM</dc:identifier>
</cp:coreProperties>
</file>