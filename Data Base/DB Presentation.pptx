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obby Jones Soft" panose="020B0604020202020204" charset="0"/>
      <p:regular r:id="rId11"/>
    </p:embeddedFon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10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720661">
            <a:off x="-3800099" y="-4258050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894325" y="5576429"/>
            <a:ext cx="3753103" cy="3063470"/>
          </a:xfrm>
          <a:custGeom>
            <a:avLst/>
            <a:gdLst/>
            <a:ahLst/>
            <a:cxnLst/>
            <a:rect l="l" t="t" r="r" b="b"/>
            <a:pathLst>
              <a:path w="3753103" h="3063470">
                <a:moveTo>
                  <a:pt x="0" y="0"/>
                </a:moveTo>
                <a:lnTo>
                  <a:pt x="3753103" y="0"/>
                </a:lnTo>
                <a:lnTo>
                  <a:pt x="3753103" y="3063471"/>
                </a:lnTo>
                <a:lnTo>
                  <a:pt x="0" y="3063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989508" y="1964322"/>
            <a:ext cx="2745312" cy="3378845"/>
          </a:xfrm>
          <a:custGeom>
            <a:avLst/>
            <a:gdLst/>
            <a:ahLst/>
            <a:cxnLst/>
            <a:rect l="l" t="t" r="r" b="b"/>
            <a:pathLst>
              <a:path w="2745312" h="3378845">
                <a:moveTo>
                  <a:pt x="0" y="0"/>
                </a:moveTo>
                <a:lnTo>
                  <a:pt x="2745311" y="0"/>
                </a:lnTo>
                <a:lnTo>
                  <a:pt x="2745311" y="3378845"/>
                </a:lnTo>
                <a:lnTo>
                  <a:pt x="0" y="3378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>
            <a:off x="4060987" y="1647100"/>
            <a:ext cx="3696067" cy="3696067"/>
          </a:xfrm>
          <a:custGeom>
            <a:avLst/>
            <a:gdLst/>
            <a:ahLst/>
            <a:cxnLst/>
            <a:rect l="l" t="t" r="r" b="b"/>
            <a:pathLst>
              <a:path w="3696067" h="3696067">
                <a:moveTo>
                  <a:pt x="0" y="0"/>
                </a:moveTo>
                <a:lnTo>
                  <a:pt x="3696067" y="0"/>
                </a:lnTo>
                <a:lnTo>
                  <a:pt x="3696067" y="3696067"/>
                </a:lnTo>
                <a:lnTo>
                  <a:pt x="0" y="3696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TextBox 6"/>
          <p:cNvSpPr txBox="1"/>
          <p:nvPr/>
        </p:nvSpPr>
        <p:spPr>
          <a:xfrm>
            <a:off x="8436877" y="1507213"/>
            <a:ext cx="7754853" cy="450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7"/>
              </a:lnSpc>
            </a:pPr>
            <a:r>
              <a:rPr lang="en-US" sz="11684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RESTURNAT MANGMENT</a:t>
            </a:r>
          </a:p>
          <a:p>
            <a:pPr algn="l">
              <a:lnSpc>
                <a:spcPts val="11567"/>
              </a:lnSpc>
            </a:pPr>
            <a:r>
              <a:rPr lang="en-US" sz="11684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SYSTEM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13227596" y="3937066"/>
            <a:ext cx="8063408" cy="6349934"/>
          </a:xfrm>
          <a:custGeom>
            <a:avLst/>
            <a:gdLst/>
            <a:ahLst/>
            <a:cxnLst/>
            <a:rect l="l" t="t" r="r" b="b"/>
            <a:pathLst>
              <a:path w="8063408" h="6349934">
                <a:moveTo>
                  <a:pt x="8063408" y="0"/>
                </a:moveTo>
                <a:lnTo>
                  <a:pt x="0" y="0"/>
                </a:lnTo>
                <a:lnTo>
                  <a:pt x="0" y="6349934"/>
                </a:lnTo>
                <a:lnTo>
                  <a:pt x="8063408" y="6349934"/>
                </a:lnTo>
                <a:lnTo>
                  <a:pt x="8063408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TextBox 8"/>
          <p:cNvSpPr txBox="1"/>
          <p:nvPr/>
        </p:nvSpPr>
        <p:spPr>
          <a:xfrm>
            <a:off x="5149575" y="5933626"/>
            <a:ext cx="866584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DALLA3 KERSHAK UNIVERSITY FOOD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8517" y="7591201"/>
            <a:ext cx="273260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DR. DOAA MOHEY ELDIN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62035" y="7591201"/>
            <a:ext cx="211419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DR. SARAH NAIEM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3898" y="8592275"/>
            <a:ext cx="164020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CODE: INF2201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40503" y="645732"/>
            <a:ext cx="7481824" cy="88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PROJECT OVERVIEW</a:t>
            </a:r>
          </a:p>
        </p:txBody>
      </p:sp>
      <p:sp>
        <p:nvSpPr>
          <p:cNvPr id="3" name="Freeform 3"/>
          <p:cNvSpPr/>
          <p:nvPr/>
        </p:nvSpPr>
        <p:spPr>
          <a:xfrm rot="-7604635">
            <a:off x="13686142" y="-80807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TextBox 4"/>
          <p:cNvSpPr txBox="1"/>
          <p:nvPr/>
        </p:nvSpPr>
        <p:spPr>
          <a:xfrm>
            <a:off x="6016380" y="1972093"/>
            <a:ext cx="9382620" cy="701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Purpose of the System:</a:t>
            </a:r>
          </a:p>
          <a:p>
            <a:pPr algn="l">
              <a:lnSpc>
                <a:spcPts val="3484"/>
              </a:lnSpc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 digitalize and streamline the dining experience within the university food court, integrating multiple vendors into a single unified platform.</a:t>
            </a:r>
          </a:p>
          <a:p>
            <a:pPr algn="l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Main Objectives: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Centralize order management for all campus food vendors.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accurate wait times and live queue tracking.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Enhance student experience with a unified payment and loyalty system.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Problems Solved: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Long, unorganized waiting lines between classes.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Inefficient manual order taking and lost paper tickets.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Lack of data tracking for vendor performance and popular items.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endParaRPr lang="en-US" sz="2904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890798" y="4115505"/>
            <a:ext cx="8063408" cy="6349934"/>
          </a:xfrm>
          <a:custGeom>
            <a:avLst/>
            <a:gdLst/>
            <a:ahLst/>
            <a:cxnLst/>
            <a:rect l="l" t="t" r="r" b="b"/>
            <a:pathLst>
              <a:path w="8063408" h="6349934">
                <a:moveTo>
                  <a:pt x="0" y="0"/>
                </a:moveTo>
                <a:lnTo>
                  <a:pt x="8063408" y="0"/>
                </a:lnTo>
                <a:lnTo>
                  <a:pt x="8063408" y="6349933"/>
                </a:lnTo>
                <a:lnTo>
                  <a:pt x="0" y="6349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-5073696" y="-453666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9813823">
            <a:off x="12733563" y="760117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TextBox 4"/>
          <p:cNvSpPr txBox="1"/>
          <p:nvPr/>
        </p:nvSpPr>
        <p:spPr>
          <a:xfrm>
            <a:off x="6314861" y="2003773"/>
            <a:ext cx="10188943" cy="701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Main Tables:</a:t>
            </a:r>
          </a:p>
          <a:p>
            <a:pPr algn="just">
              <a:lnSpc>
                <a:spcPts val="3484"/>
              </a:lnSpc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Users, FoodVendors, MenuItems, FoodCourtTables, Orders, OrderDetails, Payments.</a:t>
            </a:r>
          </a:p>
          <a:p>
            <a:pPr algn="just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Relationships:</a:t>
            </a:r>
          </a:p>
          <a:p>
            <a:pPr marL="626975" lvl="1" indent="-313488" algn="just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1-to-Many: Users ➔ Orders, FoodVendors ➔ MenuItems, Orders ➔ OrderDetails</a:t>
            </a:r>
          </a:p>
          <a:p>
            <a:pPr marL="626975" lvl="1" indent="-313488" algn="just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1-to-1: Orders ➔ Payments</a:t>
            </a:r>
          </a:p>
          <a:p>
            <a:pPr algn="just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Keys &amp; Constraints:</a:t>
            </a:r>
          </a:p>
          <a:p>
            <a:pPr marL="626975" lvl="1" indent="-313488" algn="just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Primary Keys (PK): Unique IDs such as OrderID, UserID, MenuID</a:t>
            </a:r>
          </a:p>
          <a:p>
            <a:pPr marL="626975" lvl="1" indent="-313488" algn="just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Foreign Keys (FK): Ensure referential integrity between tables</a:t>
            </a:r>
          </a:p>
          <a:p>
            <a:pPr algn="just">
              <a:lnSpc>
                <a:spcPts val="3484"/>
              </a:lnSpc>
              <a:spcBef>
                <a:spcPct val="0"/>
              </a:spcBef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Normalization:</a:t>
            </a:r>
          </a:p>
          <a:p>
            <a:pPr algn="just">
              <a:lnSpc>
                <a:spcPts val="3484"/>
              </a:lnSpc>
              <a:spcBef>
                <a:spcPct val="0"/>
              </a:spcBef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Designed up to 3NF to eliminate data redundancy and maintain a scalable structure.</a:t>
            </a:r>
          </a:p>
          <a:p>
            <a:pPr algn="just">
              <a:lnSpc>
                <a:spcPts val="3484"/>
              </a:lnSpc>
              <a:spcBef>
                <a:spcPct val="0"/>
              </a:spcBef>
            </a:pPr>
            <a:endParaRPr lang="en-US" sz="2904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205471" y="646334"/>
            <a:ext cx="10547286" cy="87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DATABASE DESIGN</a:t>
            </a:r>
          </a:p>
        </p:txBody>
      </p:sp>
      <p:sp>
        <p:nvSpPr>
          <p:cNvPr id="6" name="Freeform 6"/>
          <p:cNvSpPr/>
          <p:nvPr/>
        </p:nvSpPr>
        <p:spPr>
          <a:xfrm>
            <a:off x="53444" y="3862146"/>
            <a:ext cx="5152027" cy="5152027"/>
          </a:xfrm>
          <a:custGeom>
            <a:avLst/>
            <a:gdLst/>
            <a:ahLst/>
            <a:cxnLst/>
            <a:rect l="l" t="t" r="r" b="b"/>
            <a:pathLst>
              <a:path w="5152027" h="5152027">
                <a:moveTo>
                  <a:pt x="0" y="0"/>
                </a:moveTo>
                <a:lnTo>
                  <a:pt x="5152027" y="0"/>
                </a:lnTo>
                <a:lnTo>
                  <a:pt x="5152027" y="5152027"/>
                </a:lnTo>
                <a:lnTo>
                  <a:pt x="0" y="51520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2973211" y="-100925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-7604635">
            <a:off x="-6671259" y="-4243496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9918201" y="2321181"/>
            <a:ext cx="5411797" cy="5644638"/>
          </a:xfrm>
          <a:custGeom>
            <a:avLst/>
            <a:gdLst/>
            <a:ahLst/>
            <a:cxnLst/>
            <a:rect l="l" t="t" r="r" b="b"/>
            <a:pathLst>
              <a:path w="5411797" h="5644638">
                <a:moveTo>
                  <a:pt x="0" y="0"/>
                </a:moveTo>
                <a:lnTo>
                  <a:pt x="5411797" y="0"/>
                </a:lnTo>
                <a:lnTo>
                  <a:pt x="5411797" y="5644638"/>
                </a:lnTo>
                <a:lnTo>
                  <a:pt x="0" y="5644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Box 5"/>
          <p:cNvSpPr txBox="1"/>
          <p:nvPr/>
        </p:nvSpPr>
        <p:spPr>
          <a:xfrm>
            <a:off x="690202" y="3083846"/>
            <a:ext cx="8889501" cy="6604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122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system provides modern capabilities for campus dining: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Online Ordering: Support for Dine-in, Takeaway, and Campus Delivery.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Queue Management: Live status updates (Waiting ➔ Preparing ➔ Ready).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Estimated Waiting Time: Auto-calculated based on prep times.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Payment System: Supports Cash, Credit Card, and Student Card.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Loyalty Points: Earn and redeem points.</a:t>
            </a:r>
          </a:p>
          <a:p>
            <a:pPr marL="674059" lvl="1" indent="-337029" algn="l">
              <a:lnSpc>
                <a:spcPts val="3746"/>
              </a:lnSpc>
              <a:buFont typeface="Arial"/>
              <a:buChar char="•"/>
            </a:pPr>
            <a:r>
              <a:rPr lang="en-US" sz="3122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 Management: Tracks table status and occupancy.</a:t>
            </a:r>
          </a:p>
          <a:p>
            <a:pPr algn="ctr">
              <a:lnSpc>
                <a:spcPts val="3746"/>
              </a:lnSpc>
              <a:spcBef>
                <a:spcPct val="0"/>
              </a:spcBef>
            </a:pPr>
            <a:endParaRPr lang="en-US" sz="3122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12581" y="1938777"/>
            <a:ext cx="7244742" cy="87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SYSTEM FEATURES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-4789606" y="6487056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2" y="0"/>
                </a:lnTo>
                <a:lnTo>
                  <a:pt x="9579212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-7604635">
            <a:off x="13686142" y="-80807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1424247" y="2358040"/>
            <a:ext cx="5620097" cy="5570921"/>
          </a:xfrm>
          <a:custGeom>
            <a:avLst/>
            <a:gdLst/>
            <a:ahLst/>
            <a:cxnLst/>
            <a:rect l="l" t="t" r="r" b="b"/>
            <a:pathLst>
              <a:path w="5620097" h="5570921">
                <a:moveTo>
                  <a:pt x="0" y="0"/>
                </a:moveTo>
                <a:lnTo>
                  <a:pt x="5620097" y="0"/>
                </a:lnTo>
                <a:lnTo>
                  <a:pt x="5620097" y="5570920"/>
                </a:lnTo>
                <a:lnTo>
                  <a:pt x="0" y="5570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Box 5"/>
          <p:cNvSpPr txBox="1"/>
          <p:nvPr/>
        </p:nvSpPr>
        <p:spPr>
          <a:xfrm>
            <a:off x="7708869" y="1391226"/>
            <a:ext cx="6990392" cy="170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TRIGGERS (AUTOMATED LOGIC)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6410" y="3511026"/>
            <a:ext cx="8705624" cy="613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database uses triggers to automate workflows: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Automatic Table Status Update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Automatically changes table status between Occupied and Available.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Queue Number Generation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Generates queue numbers such as Q001.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Automatic Total Calculations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Calculates SubTotal, TotalAmount, and waiting time automatically.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Loyalty Points Automation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Adds loyalty points after successful payment completion.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endParaRPr lang="en-US" sz="2904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2973211" y="-100925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-7604635">
            <a:off x="-6202570" y="-3748768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9461053" y="3210812"/>
            <a:ext cx="6068905" cy="5204086"/>
          </a:xfrm>
          <a:custGeom>
            <a:avLst/>
            <a:gdLst/>
            <a:ahLst/>
            <a:cxnLst/>
            <a:rect l="l" t="t" r="r" b="b"/>
            <a:pathLst>
              <a:path w="6068905" h="5204086">
                <a:moveTo>
                  <a:pt x="0" y="0"/>
                </a:moveTo>
                <a:lnTo>
                  <a:pt x="6068904" y="0"/>
                </a:lnTo>
                <a:lnTo>
                  <a:pt x="6068904" y="5204086"/>
                </a:lnTo>
                <a:lnTo>
                  <a:pt x="0" y="5204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Box 5"/>
          <p:cNvSpPr txBox="1"/>
          <p:nvPr/>
        </p:nvSpPr>
        <p:spPr>
          <a:xfrm>
            <a:off x="436844" y="4385912"/>
            <a:ext cx="9284591" cy="438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project includes reusable stored procedures: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Process Order (sp_ProcessFoodCourtOrder)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Handles order creation and inserts order details.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Complete Payment (sp_CompletePayment)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Processes payments and updates order state.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Cancel Order (sp_CancelOrder)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Cancels the order and updates queue status.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Redeem Loyalty Points (sp_RedeemLoyaltyPoints)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Applies discounts using loyalty points.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endParaRPr lang="en-US" sz="2904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31339" y="1473658"/>
            <a:ext cx="6512661" cy="169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STORED PROCEDURES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-5073696" y="-453666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9813823">
            <a:off x="12733563" y="7601174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6"/>
                </a:lnTo>
                <a:lnTo>
                  <a:pt x="0" y="6549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6048346" y="1099076"/>
            <a:ext cx="5774695" cy="4713594"/>
          </a:xfrm>
          <a:custGeom>
            <a:avLst/>
            <a:gdLst/>
            <a:ahLst/>
            <a:cxnLst/>
            <a:rect l="l" t="t" r="r" b="b"/>
            <a:pathLst>
              <a:path w="5774695" h="4713594">
                <a:moveTo>
                  <a:pt x="0" y="0"/>
                </a:moveTo>
                <a:lnTo>
                  <a:pt x="5774695" y="0"/>
                </a:lnTo>
                <a:lnTo>
                  <a:pt x="5774695" y="4713594"/>
                </a:lnTo>
                <a:lnTo>
                  <a:pt x="0" y="4713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Box 5"/>
          <p:cNvSpPr txBox="1"/>
          <p:nvPr/>
        </p:nvSpPr>
        <p:spPr>
          <a:xfrm>
            <a:off x="1349589" y="6943519"/>
            <a:ext cx="8676158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Faster service and reduced congestion.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Automated order and payment tracking.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Reliable and scalable database infrastructure.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174620"/>
            <a:ext cx="4658969" cy="47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6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ENEFITS OF THE SYSTEM: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7156" y="6174620"/>
            <a:ext cx="4658969" cy="47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600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FUTURE IMPROVEMENTS: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58045" y="6946907"/>
            <a:ext cx="867615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Mobile Application Development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AI-based food recommendations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69580">
            <a:off x="12973211" y="-1009257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 rot="-7604635">
            <a:off x="-6202570" y="-3748768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11150831" y="2805193"/>
            <a:ext cx="4715931" cy="5804223"/>
          </a:xfrm>
          <a:custGeom>
            <a:avLst/>
            <a:gdLst/>
            <a:ahLst/>
            <a:cxnLst/>
            <a:rect l="l" t="t" r="r" b="b"/>
            <a:pathLst>
              <a:path w="4715931" h="5804223">
                <a:moveTo>
                  <a:pt x="0" y="0"/>
                </a:moveTo>
                <a:lnTo>
                  <a:pt x="4715930" y="0"/>
                </a:lnTo>
                <a:lnTo>
                  <a:pt x="4715930" y="5804222"/>
                </a:lnTo>
                <a:lnTo>
                  <a:pt x="0" y="5804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TextBox 5"/>
          <p:cNvSpPr txBox="1"/>
          <p:nvPr/>
        </p:nvSpPr>
        <p:spPr>
          <a:xfrm>
            <a:off x="646493" y="4078194"/>
            <a:ext cx="8751954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904" b="1">
                <a:solidFill>
                  <a:srgbClr val="1800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system provides business intelligence using SQL analysis queries: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Daily Revenue Reports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Calculates daily profits and revenue.</a:t>
            </a:r>
          </a:p>
          <a:p>
            <a:pPr marL="626975" lvl="1" indent="-313488" algn="l">
              <a:lnSpc>
                <a:spcPts val="3484"/>
              </a:lnSpc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Popular Dishes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Displays the most ordered items.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Vendor Statistics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Analyzes vendor sales and performance.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Orders Analysis</a:t>
            </a:r>
          </a:p>
          <a:p>
            <a:pPr marL="626975" lvl="1" indent="-313488" algn="l">
              <a:lnSpc>
                <a:spcPts val="3484"/>
              </a:lnSpc>
              <a:spcBef>
                <a:spcPct val="0"/>
              </a:spcBef>
              <a:buFont typeface="Arial"/>
              <a:buChar char="•"/>
            </a:pPr>
            <a:r>
              <a:rPr lang="en-US" sz="2904">
                <a:solidFill>
                  <a:srgbClr val="1800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Tracks cancellations, active queues, and order statistics.</a:t>
            </a:r>
          </a:p>
          <a:p>
            <a:pPr algn="l">
              <a:lnSpc>
                <a:spcPts val="3484"/>
              </a:lnSpc>
              <a:spcBef>
                <a:spcPct val="0"/>
              </a:spcBef>
            </a:pPr>
            <a:endParaRPr lang="en-US" sz="2904">
              <a:solidFill>
                <a:srgbClr val="1800A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885787" y="1728979"/>
            <a:ext cx="6512661" cy="169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SQL ANALYSIS QUERIES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04635">
            <a:off x="13686142" y="-808073"/>
            <a:ext cx="9579213" cy="6549787"/>
          </a:xfrm>
          <a:custGeom>
            <a:avLst/>
            <a:gdLst/>
            <a:ahLst/>
            <a:cxnLst/>
            <a:rect l="l" t="t" r="r" b="b"/>
            <a:pathLst>
              <a:path w="9579213" h="6549787">
                <a:moveTo>
                  <a:pt x="0" y="0"/>
                </a:moveTo>
                <a:lnTo>
                  <a:pt x="9579213" y="0"/>
                </a:lnTo>
                <a:lnTo>
                  <a:pt x="9579213" y="6549787"/>
                </a:lnTo>
                <a:lnTo>
                  <a:pt x="0" y="654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2537463103"/>
              </p:ext>
            </p:extLst>
          </p:nvPr>
        </p:nvGraphicFramePr>
        <p:xfrm>
          <a:off x="-533400" y="4018798"/>
          <a:ext cx="20345400" cy="746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469100" imgH="8318500" progId="Excel.Sheet.12">
                  <p:embed/>
                </p:oleObj>
              </mc:Choice>
              <mc:Fallback>
                <p:oleObj name="Worksheet" r:id="rId3" imgW="19469100" imgH="8318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533400" y="4018798"/>
                        <a:ext cx="20345400" cy="746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438588" y="1143000"/>
            <a:ext cx="7481824" cy="87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68"/>
              </a:lnSpc>
            </a:pPr>
            <a:r>
              <a:rPr lang="en-US" sz="6533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957" y="2400146"/>
            <a:ext cx="14642638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WE WOULD LIKE TO SINCERELY THANK DR. SOHA SAFWAT ,DR. SARAH NAIEM  AND DR. DOAA MOHEY ELDIN FOR THEIR VALUABLE SUPPORT AND GREAT EFFORTS THROUGHOUT OUR PROJECT.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YOUR GUIDANCE AND ENCOURAGEMENT MEANT A LOT TO US AND TRULY MADE A SIGNIFICANT DIFFERENCE.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800AD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OUR TEAM: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549</Words>
  <Application>Microsoft Office PowerPoint</Application>
  <PresentationFormat>Custom</PresentationFormat>
  <Paragraphs>78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Bobby Jones Soft</vt:lpstr>
      <vt:lpstr>Glacial Indifference</vt:lpstr>
      <vt:lpstr>Arial</vt:lpstr>
      <vt:lpstr>Glacial Indifference Bold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Presentation</dc:title>
  <dc:creator>noura maher</dc:creator>
  <cp:lastModifiedBy>noura maher</cp:lastModifiedBy>
  <cp:revision>2</cp:revision>
  <dcterms:created xsi:type="dcterms:W3CDTF">2006-08-16T00:00:00Z</dcterms:created>
  <dcterms:modified xsi:type="dcterms:W3CDTF">2026-05-08T23:26:20Z</dcterms:modified>
  <dc:identifier>DAHJHgU_4tU</dc:identifier>
</cp:coreProperties>
</file>